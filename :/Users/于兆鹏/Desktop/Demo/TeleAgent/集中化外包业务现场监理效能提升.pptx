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  <Relationship Id="rId4" Type="http://schemas.openxmlformats.org/officeDocument/2006/relationships/custom-properties" Target="docProps/custom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</p:sldIdLst>
  <p:notesMasterIdLst>
    <p:notesMasterId r:id="rId1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notesMaster" Target="notesMasters/notesMaster1.xml"/><Relationship Id="rId134" Type="http://schemas.openxmlformats.org/officeDocument/2006/relationships/presProps" Target="presProps.xml"/><Relationship Id="rId135" Type="http://schemas.openxmlformats.org/officeDocument/2006/relationships/viewProps" Target="viewProps.xml"/><Relationship Id="rId136" Type="http://schemas.openxmlformats.org/officeDocument/2006/relationships/theme" Target="theme/theme1.xml"/><Relationship Id="rId1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image" Target="../media/image-62-5.png"/><Relationship Id="rId6" Type="http://schemas.openxmlformats.org/officeDocument/2006/relationships/image" Target="../media/image-6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image" Target="../media/image-92-2.svg"/><Relationship Id="rId3" Type="http://schemas.openxmlformats.org/officeDocument/2006/relationships/image" Target="../media/image-92-3.png"/><Relationship Id="rId4" Type="http://schemas.openxmlformats.org/officeDocument/2006/relationships/image" Target="../media/image-9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image" Target="../media/image-99-2.svg"/><Relationship Id="rId3" Type="http://schemas.openxmlformats.org/officeDocument/2006/relationships/image" Target="../media/image-99-3.png"/><Relationship Id="rId4" Type="http://schemas.openxmlformats.org/officeDocument/2006/relationships/image" Target="../media/image-99-4.svg"/><Relationship Id="rId5" Type="http://schemas.openxmlformats.org/officeDocument/2006/relationships/image" Target="../media/image-99-5.png"/><Relationship Id="rId6" Type="http://schemas.openxmlformats.org/officeDocument/2006/relationships/image" Target="../media/image-9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png"/><Relationship Id="rId2" Type="http://schemas.openxmlformats.org/officeDocument/2006/relationships/image" Target="../media/image-118-2.svg"/><Relationship Id="rId3" Type="http://schemas.openxmlformats.org/officeDocument/2006/relationships/image" Target="../media/image-118-3.png"/><Relationship Id="rId4" Type="http://schemas.openxmlformats.org/officeDocument/2006/relationships/image" Target="../media/image-11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315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集中化外包业务</a:t>
            </a:r>
            <a:endParaRPr lang="en-US" sz="3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现场监理效能提升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2286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3832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CDD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讲师：于兆鹏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BB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培训对象：银行金融服务业务监理  |  培训时长：1天（6小时）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讲师简介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于兆鹏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银行数字化与人工智能应用专家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10312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DPBOK / CFRM / CGFC / CDGA / CDGP / CDAM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NPDP / ACP / PBA / PMP / PgMP / PfMP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P3O / ITIL / ToGAF / MBA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09728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央行直属金融央企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金融科技+AI方向，国家实验室项目负责人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96596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携程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029200" y="2240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知识管理中心总监，项目管理委员会主任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83464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中国惠普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02920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知识管理部门总经理，PMO负责人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3703320"/>
            <a:ext cx="54864" cy="640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NTTDATA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39776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主导人民银行直属央企AI项目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专业成果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474720"/>
          </a:xfrm>
          <a:prstGeom prst="rect">
            <a:avLst>
              <a:gd name="adj" fmla="val 2105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出版24本专著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731520" cy="548640"/>
          </a:xfrm>
          <a:prstGeom prst="rect">
            <a:avLst>
              <a:gd name="adj" fmla="val 8333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73736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12本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7373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专业丛书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8288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产品管理、PMO实践、银行业实战等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560320"/>
            <a:ext cx="731520" cy="548640"/>
          </a:xfrm>
          <a:prstGeom prst="rect">
            <a:avLst>
              <a:gd name="adj" fmla="val 8333"/>
            </a:avLst>
          </a:prstGeom>
          <a:solidFill>
            <a:srgbClr val="E6F0FF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56032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6本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560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行业标准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8288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NPDP知识体系、商业分析实践指南等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3383280"/>
            <a:ext cx="731520" cy="548640"/>
          </a:xfrm>
          <a:prstGeom prst="rect">
            <a:avLst>
              <a:gd name="adj" fmla="val 8333"/>
            </a:avLst>
          </a:prstGeom>
          <a:solidFill>
            <a:srgbClr val="E6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383280"/>
            <a:ext cx="731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6本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3383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辅导丛书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8288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PBA认证、敏捷项目管理、NPDP等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931920" cy="3474720"/>
          </a:xfrm>
          <a:prstGeom prst="rect">
            <a:avLst>
              <a:gd name="adj" fmla="val 2105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服务银行客户超过500家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029200" y="169164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工商银行、建设银行、交通银行、招商银行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中信银行、兴业银行、浦发银行、光大银行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宁波银行、恒丰银行、南京银行、浙商银行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中国银联、外汇交易中心、上海票据交易所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国家工信部人工智能管理师认证标准委员会专家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国家信息中心特邀AI专家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课程缘起：为什么需要这门课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463040"/>
          </a:xfrm>
          <a:prstGeom prst="rect">
            <a:avLst>
              <a:gd name="adj" fmla="val 5000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14300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集中化业务（催收、客服、营销）外包程度加深，多家外包商同时驻场成为常态。业务监理不再仅是"监工"，更需成为资源调度师、技能教练员、质量守门员与业绩推动者。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651760"/>
            <a:ext cx="1965960" cy="5029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外包人员流动频繁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技能参差，影响服务质量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60604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2651760"/>
            <a:ext cx="196596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74320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订单波峰波谷与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外包人力错配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2651760"/>
            <a:ext cx="1965960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9204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多外包商并行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标准难统一，质量波动大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903720" y="2651760"/>
            <a:ext cx="1965960" cy="201168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2651760"/>
            <a:ext cx="196596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2651760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040880" y="32461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业绩目标层层分解后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现场缺乏有效抓手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课程主线："人-单-质-绩"四维管理循环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1463040"/>
            <a:ext cx="2194560" cy="109728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60020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人·单·质·绩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051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维度1：人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194560" cy="2743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91440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92240" y="1051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维度2：单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92240" y="1463040"/>
            <a:ext cx="219456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55448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订单波峰波谷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动态调度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92608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维度3：质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57200" y="3474720"/>
            <a:ext cx="219456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一致性管理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926080"/>
            <a:ext cx="2560320" cy="1463040"/>
          </a:xfrm>
          <a:prstGeom prst="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92240" y="30632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维度4：绩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3474720"/>
            <a:ext cx="219456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356616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业绩过程拆解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PDCA闭环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四维管理不是割裂的四个模块，而是"匹配→赋能→守门→驱动"的闭环循环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CONTENTS  课程目录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6596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定位重塑与挑战认知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09:00-10:30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监理角色跃迁、外包管理难点、利益平衡模型、失控场景复盘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06040" y="118872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274320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人力与订单匹配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6324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订单预测、人力配置模型、多外包商人力池、缺编预警流程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188720"/>
            <a:ext cx="196596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89204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外包人员技能提升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21208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13:30-15:00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9204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技能分层模型、赋能三板斧、监理认证制、红黄牌帮扶流程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03720" y="118872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903720" y="118872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41732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040880" y="201168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质量稳定与业绩提升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360920" y="251460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0" name="Text 28"/>
          <p:cNvSpPr/>
          <p:nvPr/>
        </p:nvSpPr>
        <p:spPr>
          <a:xfrm>
            <a:off x="7040880" y="26517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15:15-16:30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040880" y="301752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质量三道防线、多外包商一致性管理、业绩抓手、PDCA闭环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总结与行动计划  16:30-17:00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课程特色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全场景贴近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所有案例、工具均围绕催收、客服、营销三类集中化业务设计，不空谈理论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9748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即学即用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306324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提供超过10份可直接打印使用的表格、看板模板、反馈卡、清单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496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角色沉浸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21208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模拟"人力突发缺口""质量投诉爆发""业绩冲刺周"等情景，倒逼监理实战决策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543800" y="13716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9516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多外包商视角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36092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7"/>
          <p:cNvSpPr/>
          <p:nvPr/>
        </p:nvSpPr>
        <p:spPr>
          <a:xfrm>
            <a:off x="704088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专门设计"多供应商一致性管理"内容，解决标准打架、信息孤岛问题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学习目标：四维能力提升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3716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91440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运用人力测算模型，实现订单量与外包人力的动态平衡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9748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快速赋能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06324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建立外包人员"入职-在岗-进阶"技能提升路径与带教机制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40680" y="1371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84632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稳定质量</a:t>
            </a:r>
            <a:endParaRPr lang="en-US" sz="1800" dirty="0"/>
          </a:p>
        </p:txBody>
      </p:sp>
      <p:sp>
        <p:nvSpPr>
          <p:cNvPr id="16" name="Shape 12"/>
          <p:cNvSpPr/>
          <p:nvPr/>
        </p:nvSpPr>
        <p:spPr>
          <a:xfrm>
            <a:off x="521208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构建多外包商统一质检标准与现场纠偏流程，降低合规与投诉风险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95160" y="201168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驱动业绩</a:t>
            </a:r>
            <a:endParaRPr lang="en-US" sz="1800" dirty="0"/>
          </a:p>
        </p:txBody>
      </p:sp>
      <p:sp>
        <p:nvSpPr>
          <p:cNvPr id="20" name="Shape 16"/>
          <p:cNvSpPr/>
          <p:nvPr/>
        </p:nvSpPr>
        <p:spPr>
          <a:xfrm>
            <a:off x="7360920" y="2468880"/>
            <a:ext cx="10515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265176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设计监理层面的业绩看板、激励杠杆与改进闭环，推动关键指标达成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课前热身：你的管理痛点是什么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请在便签上写下你目前最头疼的一个外包管理问题，贴到白板上对应区域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1965960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人力难题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缺人、流动率高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技能参差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60604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920240"/>
            <a:ext cx="196596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订单难题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892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波峰波谷错配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调度不灵活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920240"/>
            <a:ext cx="196596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质量难题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93776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多商标准不一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投诉频发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903720" y="1920240"/>
            <a:ext cx="1965960" cy="22860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903720" y="1920240"/>
            <a:ext cx="1965960" cy="45720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0" name="Text 18"/>
          <p:cNvSpPr/>
          <p:nvPr/>
        </p:nvSpPr>
        <p:spPr>
          <a:xfrm>
            <a:off x="6903720" y="1920240"/>
            <a:ext cx="1965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业绩难题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086600" y="251460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目标拆不下去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缺乏过程抓手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389120"/>
            <a:ext cx="8229600" cy="457200"/>
          </a:xfrm>
          <a:prstGeom prst="rect">
            <a:avLst>
              <a:gd name="adj" fmla="val 16000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这些痛点将在今天的4个模块中逐一击破——每个痛点都有对应的工具与方法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一日课程节奏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09:00-10:30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972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定位重塑与挑战认知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527048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5727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10:30-10:45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15727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15727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休息交流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002536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02536"/>
            <a:ext cx="54864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04825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20482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04825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人力与订单匹配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478024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252374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12:00-13:30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60320" y="252374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午休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252374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2953512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53512"/>
            <a:ext cx="54864" cy="4114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992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13:30-15:00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299923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657600" y="29992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外包人员技能提升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429000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4747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15:00-15:15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560320" y="34747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茶歇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6576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休息交流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3904488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904488"/>
            <a:ext cx="54864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3" name="Text 31"/>
          <p:cNvSpPr/>
          <p:nvPr/>
        </p:nvSpPr>
        <p:spPr>
          <a:xfrm>
            <a:off x="731520" y="395020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15:15-16:30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560320" y="395020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0" y="39502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质量稳定与业绩提升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57200" y="4379976"/>
            <a:ext cx="8229600" cy="411480"/>
          </a:xfrm>
          <a:prstGeom prst="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" y="4379976"/>
            <a:ext cx="54864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42569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16:30-17:00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560320" y="44256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657600" y="442569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行动计划与答疑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定位重塑与挑战认知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09:00-10:30  |  从"监工"到"经营者"的思维跃迁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监理角色的三次跃迁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25880" y="1325880"/>
            <a:ext cx="822960" cy="822960"/>
          </a:xfrm>
          <a:prstGeom prst="ellipse">
            <a:avLst/>
          </a:prstGeom>
          <a:solidFill>
            <a:srgbClr val="52525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371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监工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盯现场、盯纪律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"人有没有到岗"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"有没有违规操作"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60520" y="1325880"/>
            <a:ext cx="822960" cy="82296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4160520" y="1371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47472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管理者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6616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管进度、管质量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"指标有没有完成"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"质检有没有达标"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995160" y="132588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995160" y="137160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经营者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2743200"/>
            <a:ext cx="2011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驱动效率与价值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资源调度 + 技能赋能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质量守门 + 业绩推动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73736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457200"/>
          </a:xfrm>
          <a:prstGeom prst="rect">
            <a:avLst>
              <a:gd name="adj" fmla="val 16000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343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关键问题：你现在处于哪个阶段？你希望三个月后到达哪个阶段？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三种角色的核心差异对比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0"/>
          </a:xfrm>
          <a:prstGeom prst="rect">
            <a:avLst>
              <a:gd name="adj" fmla="val 2000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011680" y="10972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1.0 监工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023360" y="10972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2.0 管理者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0972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 经营者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554480"/>
            <a:ext cx="786384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关注焦点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11680" y="1554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出勤、纪律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8328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指标、质检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0" y="1554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效率、价值、全链路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工作方式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20116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发现问题→责问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发现问题→整改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预见问题→预防→优化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2468880"/>
            <a:ext cx="786384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与外包商关系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011680" y="24688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监督-对立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83280" y="24688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管理-协作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4688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共赢-赋能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核心技能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01168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看现场、记考勤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83280" y="29260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数据报表、质检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29260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调度、赋能、守门、驱动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3383280"/>
            <a:ext cx="786384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价值衡量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11680" y="33832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人到了没有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383280" y="33832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指标完成了没有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669280" y="3383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业务价值提升了多少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时间视角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11680" y="3840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当下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383280" y="3840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本周/本月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669280" y="38404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季度+趋势预判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自我评估：你离"经营者"还有多远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请逐项打分（1-5分），5分=完全做到，1分=完全没做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594360" y="181051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105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7830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我每周至少做一次人力供需分析与调度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0" y="17830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4028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12" name="Shape 10"/>
          <p:cNvSpPr/>
          <p:nvPr/>
        </p:nvSpPr>
        <p:spPr>
          <a:xfrm>
            <a:off x="594360" y="231343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31343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快速赋能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554480" y="228600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我有结构化的外包人员技能培养计划并执行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0" y="22860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4320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94360" y="281635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81635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稳定质量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278892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我能确保多外包商质检标准一致且执行到位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858000" y="278892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24612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22" name="Shape 20"/>
          <p:cNvSpPr/>
          <p:nvPr/>
        </p:nvSpPr>
        <p:spPr>
          <a:xfrm>
            <a:off x="594360" y="331927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" y="331927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驱动业绩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2918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我每周复盘业绩数据并推动改善动作落地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0" y="32918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594360" y="382219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8" name="Text 26"/>
          <p:cNvSpPr/>
          <p:nvPr/>
        </p:nvSpPr>
        <p:spPr>
          <a:xfrm>
            <a:off x="594360" y="382219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角色认知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554480" y="379476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我与外包商的关系是协作共赢而非单纯监督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0" y="37947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5196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32" name="Shape 30"/>
          <p:cNvSpPr/>
          <p:nvPr/>
        </p:nvSpPr>
        <p:spPr>
          <a:xfrm>
            <a:off x="594360" y="4325112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594360" y="4325112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经营思维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554480" y="429768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我能在问题发生前预判风险并提前部署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858000" y="429768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1  2  3  4  5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0F5F3"/>
          </a:solidFill>
          <a:ln/>
        </p:spPr>
      </p:sp>
      <p:sp>
        <p:nvSpPr>
          <p:cNvPr id="37" name="Text 35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总分&lt;18：需重点提升  |  18-24：基础扎实  |  &gt;24：已具备经营者思维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集中化业务外包管理的独特难点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36576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1732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催收外包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1005840" y="2286000"/>
            <a:ext cx="14630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468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合规红线多，话术容错率极低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人员情绪管理难度大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高流动率导致培训成本高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回款效果受催收员能力影响显著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291840" y="1097280"/>
            <a:ext cx="2560320" cy="36576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5196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7472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客服外包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840480" y="2286000"/>
            <a:ext cx="14630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9"/>
          <p:cNvSpPr/>
          <p:nvPr/>
        </p:nvSpPr>
        <p:spPr>
          <a:xfrm>
            <a:off x="3520440" y="2468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质检标准难统一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客户体验一致性难保障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复杂问题处理能力有限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投诉升级风险高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26480" y="1097280"/>
            <a:ext cx="2560320" cy="36576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86600" y="1280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09360" y="18288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营销外包</a:t>
            </a:r>
            <a:endParaRPr lang="en-US" sz="1800" dirty="0"/>
          </a:p>
        </p:txBody>
      </p:sp>
      <p:sp>
        <p:nvSpPr>
          <p:cNvPr id="17" name="Shape 12"/>
          <p:cNvSpPr/>
          <p:nvPr/>
        </p:nvSpPr>
        <p:spPr>
          <a:xfrm>
            <a:off x="6675120" y="2286000"/>
            <a:ext cx="14630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3"/>
          <p:cNvSpPr/>
          <p:nvPr/>
        </p:nvSpPr>
        <p:spPr>
          <a:xfrm>
            <a:off x="6355080" y="246888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业绩目标与人员能力错配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不同外包商转化率差异大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客户信息泄露风险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短期行为损害品牌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行业痛点数据：外包管理的"4个30%"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234440" cy="2743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外包人员年均流失率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催收岗尤甚，月流失率超45%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60604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10" name="Shape 8"/>
          <p:cNvSpPr/>
          <p:nvPr/>
        </p:nvSpPr>
        <p:spPr>
          <a:xfrm>
            <a:off x="2971800" y="2286000"/>
            <a:ext cx="1234440" cy="274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人力匹配偏差率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高峰期缺人、低谷期冗余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120640" y="2286000"/>
            <a:ext cx="1234440" cy="274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5" name="Text 13"/>
          <p:cNvSpPr/>
          <p:nvPr/>
        </p:nvSpPr>
        <p:spPr>
          <a:xfrm>
            <a:off x="493776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质检标准执行偏差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多外包商得分差异可达30%+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03720" y="137160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4200" dirty="0"/>
          </a:p>
        </p:txBody>
      </p:sp>
      <p:sp>
        <p:nvSpPr>
          <p:cNvPr id="18" name="Shape 16"/>
          <p:cNvSpPr/>
          <p:nvPr/>
        </p:nvSpPr>
        <p:spPr>
          <a:xfrm>
            <a:off x="7269480" y="2286000"/>
            <a:ext cx="1234440" cy="274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9" name="Text 17"/>
          <p:cNvSpPr/>
          <p:nvPr/>
        </p:nvSpPr>
        <p:spPr>
          <a:xfrm>
            <a:off x="7086600" y="246888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目标达成率缺口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4成团队未达月度目标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这4个30%不是偶然——它们源于监理从"监工"到"经营者"的能力断层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行方、外包商、客户三方利益平衡模型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916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合规底线不破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服务质量达标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业绩指标达成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品牌声誉保护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29184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66160" y="16916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利润空间合理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人员管理自主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考核规则清晰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长期合作稳定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29260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0972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0116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服务体验优质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问题解决高效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隐私信息保护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权益不受侵害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206240"/>
            <a:ext cx="8229600" cy="731520"/>
          </a:xfrm>
          <a:prstGeom prst="rect">
            <a:avLst>
              <a:gd name="adj" fmla="val 10000"/>
            </a:avLst>
          </a:prstGeom>
          <a:solidFill>
            <a:srgbClr val="E6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5196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监理的核心使命：在三方利益交汇处找到最优解 —— 既守住行方底线，又释放外包商效能，更保障客户权益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三方利益冲突的典型场景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8686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51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外包商想省成本→降低人员配置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 vs 行方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0" y="105156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行方业绩下降，客户服务质量缩水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0" y="1051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合同约定最低人力标准+超额奖励机制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0116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0574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行方提高质检标准→外包商利润压缩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 vs 外包商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205740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外包商偷工减料或暗地降低标准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217920" y="20574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阶梯式提升标准+质量奖金池对冲成本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17520"/>
            <a:ext cx="54864" cy="8686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63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客户投诉要求个性化处理→标准化流程冲突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3832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 vs 行方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0632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刚性流程导致客户不满升级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标准流程内设"弹性处理区间"，赋权一线判断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02336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40233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069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行方紧急加量→外包商来不及增人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85800" y="4389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 vs 外包商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0" y="40690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临时抓人导致质量问题频发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17920" y="40690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活动日历预警+弹性增补条款+人力池储备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7772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冲突场景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7772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负面影响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7772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监理解法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典型失控场景复盘：四类"灾难"现场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64008" cy="17830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92024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人力冗余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92024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某分行催收外包人力浪费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未按订单量动态调整，高峰期超配30%人力，低谷期人员闲置，全年多支出外包费用超200万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63440" y="1005840"/>
            <a:ext cx="64008" cy="1783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14300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126480" y="11430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技能断层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126480" y="14630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新员工未经培训上岗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9202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外包人员月流失率45%，新人上岗仅1天培训，导致合规违规率激增3倍，客户投诉翻番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971800"/>
            <a:ext cx="64008" cy="17830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2.8x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92024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质量崩塌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92024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多外包商标准不统一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A外包商质检得分85分，B外包商仅62分，同一业务不同供应商质量差距悬殊，客户体验严重不一致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2971800"/>
            <a:ext cx="393192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971800"/>
            <a:ext cx="64008" cy="178308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0" y="310896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126480" y="3108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业绩滑坡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126480" y="342900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月度目标达成率仅60%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37760" y="388620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指标分解后缺乏过程抓手，监理只会"催数字"不会"拆动作"，6成团队未达月度目标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FE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研讨：你最头疼的一个外包管理场景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深度复盘：人力冗余30%的根因分析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现象还原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某分行催收外包项目，合同约定固定人力50人/月，但实际日均出单量波动在600-1200通之间。高峰期50人正好，低谷期仅需35人，15人闲置却仍在付费。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560320"/>
            <a:ext cx="34747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根因链条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306324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017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合同模式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194560" y="30175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固定人力而非弹性计件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447288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4015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预测缺位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94560" y="34015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无订单量预测机制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83133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8561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调度迟滞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94560" y="378561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调整需走审批链2周+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4215384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16966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数据盲区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94560" y="416966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无日均人效与订单量对比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46320" y="1005840"/>
            <a:ext cx="384048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20640" y="114300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改善方案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120640" y="164592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5120640" y="16459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合同改弹性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669280" y="1920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基础人力35人+弹性15人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按实际使用天数结算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242316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5120640" y="24231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669280" y="24231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建预测模型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669280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近12周移动平均+季节因子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提前2周发出增减信号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120640" y="320040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5120640" y="3200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669280" y="32004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快速调度机制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3474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监理48h内可调±5人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超额需行方主管审批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120640" y="397764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5120640" y="39776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669280" y="3977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每日人效看板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669280" y="42519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日均通量/人+出单量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低于阈值自动预警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深度复盘：新员工45%月流失的恶性循环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高流失率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月流失45%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不断招新人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560320" cy="73152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压缩培训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47472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上岗培训仅1天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省成本赶进度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097280"/>
            <a:ext cx="256032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质量下滑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09360" y="16916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新人违规+投诉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合规率跌至70%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1752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01752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客户不满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611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投诉激增3倍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行方问责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91840" y="301752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91840" y="3017520"/>
            <a:ext cx="2560320" cy="7315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0" y="3200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人员压力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361188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离职潮加速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0F5F3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打破循环的关键：在"压缩培训"环节插入"监理带教把关"——用质量换时间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深度复盘：多外包商质量差距2.8倍的背后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A外包商：质检均分85分，客户满意度92%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B外包商：质检均分62分，客户满意度78%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同一业务、同一行方标准，差距为何如此之大？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根因挖掘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314553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31089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A商有独立培训团队并执行通关制，B商无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3474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A商内训师经监理认证，B商自行指定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87705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840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A商每日抽检10通即时反馈，B商月度抽检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424281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2062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A商话术模板由监理审定，B商使用旧版本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解法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统一评分卡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同一把尺子量到底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月度跨商统一打分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质量红黑榜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周度排名+奖惩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复制A商模式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内训师认证+每日抽检+话术审定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深度复盘：目标达成率60%，"催数字"为何无效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43891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月度回款目标1000万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监理做法："本月目标1000万，大家加油"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结果：月底一看只完成600万，再催也没用了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问题本质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只盯结果数字，不看过程动作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没有把大目标拆解到每日可执行的小动作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缺少过程数据追踪和即时纠偏机制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过程拆解法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1000万 =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20000通 x 5%承诺率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 100%到账率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每日：660通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监理可影响的：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通话质量 → 承诺率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跟听+反馈 → 提升质量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而非盯着到账数字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从"四类灾难"到"四维管理"的对应关系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64008" cy="8229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Shape 4"/>
          <p:cNvSpPr/>
          <p:nvPr/>
        </p:nvSpPr>
        <p:spPr>
          <a:xfrm>
            <a:off x="685800" y="118872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188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人力冗余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11430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377440" y="1188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维度1：精准匹配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377440" y="1508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订单预测+人力模型+动态调度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01168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011680"/>
            <a:ext cx="64008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Shape 11"/>
          <p:cNvSpPr/>
          <p:nvPr/>
        </p:nvSpPr>
        <p:spPr>
          <a:xfrm>
            <a:off x="685800" y="214884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技能断层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920240" y="21031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377440" y="2148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维度2：快速赋能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377440" y="24688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技能分层+带教机制+通关认证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297180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2971800"/>
            <a:ext cx="64008" cy="82296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0" name="Shape 18"/>
          <p:cNvSpPr/>
          <p:nvPr/>
        </p:nvSpPr>
        <p:spPr>
          <a:xfrm>
            <a:off x="685800" y="310896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质量崩塌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30632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237744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维度3：稳定质量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377440" y="3429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三道防线+统一标准+校准会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3931920"/>
            <a:ext cx="8229600" cy="822960"/>
          </a:xfrm>
          <a:prstGeom prst="rect">
            <a:avLst>
              <a:gd name="adj" fmla="val 888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931920"/>
            <a:ext cx="64008" cy="8229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7" name="Shape 25"/>
          <p:cNvSpPr/>
          <p:nvPr/>
        </p:nvSpPr>
        <p:spPr>
          <a:xfrm>
            <a:off x="685800" y="406908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业绩滑坡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2377440" y="4069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维度4：驱动业绩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377440" y="4389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过程拆解+激励杠杆+PDCA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每个灾难对应一个管理维度——这也是今天4个模块的设计逻辑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模块一核心要义：从认知到行动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44475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54480" y="14173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角色跃迁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3736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从"监工"→"管理者"→"经营者"，每位监理都需要完成三次突破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217627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1945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5448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痛点归因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54480" y="246888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四大灾难（人力冗余/技能断层/质量崩塌/业绩滑坡）都有对应的根因链条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90779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260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54480" y="2880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三方平衡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54480" y="320040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监理是行方、外包商、客户三方利益的"最优解寻找者"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63931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657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5448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四维闭环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3931920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人-单-质-绩不是四个独立模块，而是"匹配→赋能→守门→驱动"的管理循环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0F5F3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接下来进入模块二：如何用"人力配置模型"实现订单与人力的精准匹配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小组研讨：你的项目属于哪种角色定位？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请各小组讨论10分钟，选代表发言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9202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187452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你目前工作中，"监工""管理者""经营者"哪个占比最高？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69748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974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26517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如果要把占比最低的角色提升10%，你最需要改变的一个习惯是什么？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33756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47472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474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42900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在你的项目中，行方、外包商、客户三方哪个利益最容易被忽视？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4114800"/>
            <a:ext cx="822960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425196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251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420624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如果只能解决一个痛点（人/单/质/绩），你会先解决哪个？为什么？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延伸案例：外包合同中常见的5个"坑"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143000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固定人力条款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103120" y="1143000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不管实际业务量如何，必须付费固定人数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212080" y="1143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改为"基础人力+弹性人力"双轨制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947672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4767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226771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模糊质检标准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1947672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合同只写"达到行方标准"未定义具体标准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12080" y="194767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附件写明评分卡权重、阈值和扣罚规则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2752344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75234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072384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人员替换无约束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103120" y="2752344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外包商随意换人，新人未经培训即上岗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75234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换人需监理审批，新员工需通过通关清单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557016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55701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3877056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未约定出勤率下限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03120" y="355701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名义上50人到岗，实际出勤率仅70%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355701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合同约定出勤率≥95%，低于按比例扣费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4361688"/>
            <a:ext cx="1280160" cy="320040"/>
          </a:xfrm>
          <a:prstGeom prst="rect">
            <a:avLst>
              <a:gd name="adj" fmla="val 14286"/>
            </a:avLst>
          </a:prstGeom>
          <a:solidFill>
            <a:srgbClr val="FEE2E2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36168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468172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缺少应急增补条款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103120" y="4361688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突发业务量增加，无快速增人机制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436168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约定48h内增补通道+费用计算方式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为什么"精准匹配"是第一要务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人力是外包管理最大的成本项，也是质量与业绩的基础。人力配置做不好，后续的技能赋能、质量管控、业绩驱动都是空中楼阁。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订单积压→响应延迟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→客户投诉→行方问责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冗人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外包费用虚高→行方不满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→削减预算→质量更难保障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有经验的人做简单事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新人直接上复杂场景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模块二将给出一套可操作的人力配置模型和调度流程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延伸：外包商筛选的"5维评估法"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资质合规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103120" y="118872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8" name="Text 6"/>
          <p:cNvSpPr/>
          <p:nvPr/>
        </p:nvSpPr>
        <p:spPr>
          <a:xfrm>
            <a:off x="210312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营业执照、行业资质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合规记录、诉讼查询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0058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342900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人员储备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37760" y="118872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1600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在岗人员规模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培训体系与认证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人员稳定率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0058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18872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质量管控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772400" y="118872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0" y="1188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309360" y="16002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质检制度与执行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历史质检得分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投诉处理能力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0040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20040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响应速度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103120" y="338328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6" name="Text 24"/>
          <p:cNvSpPr/>
          <p:nvPr/>
        </p:nvSpPr>
        <p:spPr>
          <a:xfrm>
            <a:off x="210312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3794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增补人力到位周期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问题响应时效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应急处理机制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200400"/>
            <a:ext cx="25603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91840" y="320040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0" name="Text 28"/>
          <p:cNvSpPr/>
          <p:nvPr/>
        </p:nvSpPr>
        <p:spPr>
          <a:xfrm>
            <a:off x="3429000" y="338328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价格竞争力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937760" y="3383280"/>
            <a:ext cx="6400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3383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74720" y="379476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单人成本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弹性计费方案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额外服务定价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工具：外包商月度评估评分卡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外包商月度评估评分卡（示例）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评估维度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28600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0" y="15087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得分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78308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质检均分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86000" y="1920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≥85:满分 | 75-84:80% | &lt;75:50%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0" y="1920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8600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≥95%:满分 | 85-94%:80% | &lt;85%:50%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投诉率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0" y="2651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26517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≤0.5%:满分 | 0.5-1%:80% | &gt;1%:50%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0" y="26517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3017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286000" y="30175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017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≥100%:满分 | 80-99%:80% | &lt;80%:50%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0" y="30175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33832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配合度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286000" y="3383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74720" y="3383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主动配合:满分 | 被动执行:80% | 抵触:50%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0" y="33832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379476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8862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2286000" y="38862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≥90分:红榜优先派单  |  70-89分:黄榜观察  |  &lt;70分:黑榜整改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外包管理风险矩阵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风险项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1005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0" y="1005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0" y="1005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应对措施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630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合规违规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468880" y="146304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0" y="146304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4630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114800" y="1463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AI质检实时监控+红牌退回机制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196596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0574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数据泄露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468880" y="2057400"/>
            <a:ext cx="7315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205740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20574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信息安全培训+权限最小化+审计日志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56032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6517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服务中断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468880" y="265176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0" y="265176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651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1148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备商机制+应急预案+7x24热线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15468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324612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质量波动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468880" y="324612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32" name="Text 30"/>
          <p:cNvSpPr/>
          <p:nvPr/>
        </p:nvSpPr>
        <p:spPr>
          <a:xfrm>
            <a:off x="246888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0" y="324612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32461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114800" y="3246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统一评分卡+校准会+日抽检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374904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84048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人员流失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468880" y="3840480"/>
            <a:ext cx="7315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39" name="Text 37"/>
          <p:cNvSpPr/>
          <p:nvPr/>
        </p:nvSpPr>
        <p:spPr>
          <a:xfrm>
            <a:off x="246888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00400" y="384048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3200400" y="38404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11480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人力池储备+弹性增补+快速通关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" y="4343400"/>
            <a:ext cx="8229600" cy="502920"/>
          </a:xfrm>
          <a:prstGeom prst="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443484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合同纠纷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2468880" y="4434840"/>
            <a:ext cx="7315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46" name="Text 44"/>
          <p:cNvSpPr/>
          <p:nvPr/>
        </p:nvSpPr>
        <p:spPr>
          <a:xfrm>
            <a:off x="246888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00400" y="4434840"/>
            <a:ext cx="7315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8" name="Text 46"/>
          <p:cNvSpPr/>
          <p:nvPr/>
        </p:nvSpPr>
        <p:spPr>
          <a:xfrm>
            <a:off x="3200400" y="44348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中等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114800" y="4434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合同条款精细化+定期法务审核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经营者视角的监理一日工作法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960120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149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08:30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463040" y="101498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01498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回顾昨日Top3录音，正反例各1，当日重点1句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72184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472184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52704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152704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人力看板核对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152704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各商在岗人数 vs 需求，缺口预警，启动增援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1984248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" y="1984248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0391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09:30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63040" y="203911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跟听+即时反馈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83280" y="20391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每商抽听3-5通，现场反馈卡到位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496312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2496312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255117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11:00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63040" y="2551176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跨商协调事务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383280" y="25511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排班冲突、人力调拨、资源调度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008376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3008376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0632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0632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技能PK/辅导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83280" y="3063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短板人员1对1辅导或技能PK题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52044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30" name="Shape 28"/>
          <p:cNvSpPr/>
          <p:nvPr/>
        </p:nvSpPr>
        <p:spPr>
          <a:xfrm>
            <a:off x="457200" y="3520440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357530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463040" y="3575304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数据追踪与纠偏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383280" y="35753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当日过程数据，偏离目标即时调整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4032504"/>
            <a:ext cx="8229600" cy="438912"/>
          </a:xfrm>
          <a:prstGeom prst="rect">
            <a:avLst>
              <a:gd name="adj" fmla="val 16667"/>
            </a:avLst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" y="4032504"/>
            <a:ext cx="45720" cy="43891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0873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16:00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463040" y="4087368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质量复盘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383280" y="40873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抽检结果汇总，共性问题记录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4544568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/>
        </p:spPr>
      </p:sp>
      <p:sp>
        <p:nvSpPr>
          <p:cNvPr id="40" name="Shape 38"/>
          <p:cNvSpPr/>
          <p:nvPr/>
        </p:nvSpPr>
        <p:spPr>
          <a:xfrm>
            <a:off x="457200" y="4544568"/>
            <a:ext cx="45720" cy="43891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5994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17:00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463040" y="459943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日报+次日预备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83280" y="459943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日报发出，次日人力预排，问题标记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合规红线：外包管理中的"零容忍"清单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不得使用恐吓、威胁、骚扰话术催收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1325880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3258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处罚：即时红牌退回+通报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64208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7099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不得向第三方泄露客户信息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1984248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1984248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全业务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1984248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处罚：红牌退回+法律追责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2322576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322576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36829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不得私自承诺减免、还款方案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" y="2642616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642616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2642616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处罚：黄牌警告+重新培训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2980944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80944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302666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不得引导客户选择特定银行产品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3300984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300984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300984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处罚：黄牌警告+质检加权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3639312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39312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68503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不得挂断或转接后不确认客户问题解决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959352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959352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395935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处罚：黄牌警告+跟听强化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4297680"/>
            <a:ext cx="82296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4297680"/>
            <a:ext cx="54864" cy="566928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343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不得伪造通话记录或客户确认信息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31520" y="4617720"/>
            <a:ext cx="640080" cy="201168"/>
          </a:xfrm>
          <a:prstGeom prst="rect">
            <a:avLst>
              <a:gd name="adj" fmla="val 22727"/>
            </a:avLst>
          </a:prstGeom>
          <a:solidFill>
            <a:srgbClr val="E6F0FF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61772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全业务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63040" y="461772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处罚：红牌退回+追责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模块一总结：核心知识点回顾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5331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监理角色三次跃迁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监工→管理者→经营者，核心是从"盯人"到"驱动价值"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08483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0312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2057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四类失控场景根因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人力冗余/技能断层/质量崩塌/业绩滑坡，各有根因链条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81635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83464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788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三方利益平衡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63040" y="3108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行方底线+外包商合理利润+客户权益，监理找最优解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354787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56616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520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四维管理闭环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63040" y="38404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精准匹配→快速赋能→稳定质量→驱动业绩→循环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279392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297680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425196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合同与合规管理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63040" y="45720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5个合同坑位+6条零容忍红线+5维商选法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人力与订单匹配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10:45-12:00  |  动态调度机制：让对的人在对的时间做对的事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为什么"精准匹配"是外包管理的第一道关卡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人力成本占外包总成本的60-70%。人力配置偏差率每降低10%，可直接节省外包费用8-15%，同时质量投诉率下降20%+。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缺编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订单堆积→客户等待→投诉激增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→行方问责→外包商被罚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超编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人员闲置→费用虚高→预算被砍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→质量投入减少→恶性循环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26480" y="228600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2468880"/>
            <a:ext cx="64008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错配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9260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复杂场景派新人→违规+投诉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资深员工做简单事→人才浪费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订单预测简易法：三大预测维度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三大预测维度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4864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历史数据基线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9202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取近12个月同类业务日均/月均订单量，剔除异常值后取移动平均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54864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65176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季节因子修正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292608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催收：年末清收高峰(1.5x)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客服：节假日激增(2.0x)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营销：开门红(3.0x)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57600"/>
            <a:ext cx="54864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36576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营销活动日历叠加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39319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行方专项活动、监管要求集中外呼、新产品上线推广带来增量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人力配置模型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212080" y="16916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所需人力 =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标准工时 x 业务难度系数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  x 波动缓冲系数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212080" y="3017520"/>
            <a:ext cx="30175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5212080" y="32004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标准工时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32004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单通电话平均处理时长x日均目标通数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37033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难度系数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583680" y="37033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催收1.3x / 客服1.0x / 营销1.2x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42062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波动缓冲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2062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常规1.1x / 活动期1.3x / 旺季1.5x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实战演算：催收项目人力配置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催收项目人力配置演算（示例）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554480" y="1691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日均订单量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65760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1200通/天（近4周移动平均）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554480" y="2194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单通处理时长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平均8分钟/通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554480" y="269748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每人日有效工时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0" y="2697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6小时=360分钟（扣除休息/会议）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04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554480" y="3200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760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1200x8/360 = 26.7 → 27人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554480" y="3703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叠加难度系数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0" y="3703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催收1.3x → 27x1.3 = 35.1 → 36人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20624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42062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554480" y="4206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叠加波动缓冲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常规1.1x → 36x1.1 = 39.6 → 40人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731520" y="4572000"/>
            <a:ext cx="7680960" cy="365760"/>
          </a:xfrm>
          <a:prstGeom prst="rect">
            <a:avLst>
              <a:gd name="adj" fmla="val 20000"/>
            </a:avLst>
          </a:prstGeom>
          <a:solidFill>
            <a:srgbClr val="E0F5F3"/>
          </a:solidFill>
          <a:ln/>
        </p:spPr>
      </p:sp>
      <p:sp>
        <p:nvSpPr>
          <p:cNvPr id="31" name="Text 29"/>
          <p:cNvSpPr/>
          <p:nvPr/>
        </p:nvSpPr>
        <p:spPr>
          <a:xfrm>
            <a:off x="1005840" y="459028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结论：催收项目日均1200通，需配置40人（基础36+缓冲4）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三类业务的季节性波动规律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月度业务量波动系数（1.0=基准月）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业务类型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0116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低谷期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83680" y="155448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常态期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1965960"/>
            <a:ext cx="914400" cy="320040"/>
          </a:xfrm>
          <a:prstGeom prst="rect">
            <a:avLst>
              <a:gd name="adj" fmla="val 14286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1168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1-2月(1.5x) 年末清收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9768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4-5月(0.7x) 节后低谷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83680" y="192024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6-12月(1.0x) 常态运行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2743200"/>
            <a:ext cx="914400" cy="320040"/>
          </a:xfrm>
          <a:prstGeom prst="rect">
            <a:avLst>
              <a:gd name="adj" fmla="val 14286"/>
            </a:avLst>
          </a:prstGeom>
          <a:solidFill>
            <a:srgbClr val="E6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432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011680" y="2697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1-2月(2.0x) 春节咨询暴增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297680" y="2697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10-11月(0.8x) 平稳期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583680" y="269748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3-9月(1.0x) 常态运行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3520440"/>
            <a:ext cx="914400" cy="320040"/>
          </a:xfrm>
          <a:prstGeom prst="rect">
            <a:avLst>
              <a:gd name="adj" fmla="val 14286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5204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0116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1月(3.0x) 开门红冲刺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2976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7-8月(0.6x) 暑期淡季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83680" y="3474720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3-6月(1.0x) 常态运行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提前2个月预判高峰期，预排人力增补计划——不要等到缺人了才着急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多外包商"人力池"共享与排班冲突解决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303520" cy="292608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人力池共享机制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建立统一人力视图：每日汇总各外包商在岗人数、可用时段、技能标签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945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跨商调拨规则：A商人力过剩时，可按协议向B商临时"借人"，费用按实际使用结算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7432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排班优先级：行方核心业务 &gt; 紧急活动 &gt; 日常运营 &gt; 培训调休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33756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291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冲突解决"三步法"：① 需求方协商 ② 监理裁定 ③ 行方业务主管终裁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651760" cy="2926080"/>
          </a:xfrm>
          <a:prstGeom prst="rect">
            <a:avLst>
              <a:gd name="adj" fmla="val 2759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16459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警惕"假饱和"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17920" y="2103120"/>
            <a:ext cx="2286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外包商声称人力已满，实际出勤率仅70%。应对措施：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要求日报出勤率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不定期现场核查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合同约定出勤率下限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未达标按比例扣费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工具：日/周人力匹配看板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人力匹配看板（日视图示例）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1168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0" y="15087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06240" y="1508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178308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1920240"/>
            <a:ext cx="76809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9933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A外包商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011680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743200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474720" y="199339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06240" y="2011680"/>
            <a:ext cx="82296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9" name="Text 17"/>
          <p:cNvSpPr/>
          <p:nvPr/>
        </p:nvSpPr>
        <p:spPr>
          <a:xfrm>
            <a:off x="4206240" y="201168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缺编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19933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启动增援流程，48h补2人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2468880"/>
            <a:ext cx="76809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5420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B外包商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011680" y="2542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743200" y="2542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474720" y="254203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06240" y="2560320"/>
            <a:ext cx="82296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7" name="Text 25"/>
          <p:cNvSpPr/>
          <p:nvPr/>
        </p:nvSpPr>
        <p:spPr>
          <a:xfrm>
            <a:off x="4206240" y="256032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超编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080" y="2542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释放2人至人力池，1人调休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3017520"/>
            <a:ext cx="7680960" cy="457200"/>
          </a:xfrm>
          <a:prstGeom prst="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09067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C外包商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01168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74320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74720" y="30906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06240" y="3108960"/>
            <a:ext cx="82296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35" name="Text 33"/>
          <p:cNvSpPr/>
          <p:nvPr/>
        </p:nvSpPr>
        <p:spPr>
          <a:xfrm>
            <a:off x="4206240" y="310896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309067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维持，关注下午单量变化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40080" y="3566160"/>
            <a:ext cx="7680960" cy="457200"/>
          </a:xfrm>
          <a:prstGeom prst="rect">
            <a:avLst>
              <a:gd name="adj" fmla="val 160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63931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01168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93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74320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92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3474720" y="36393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206240" y="3657600"/>
            <a:ext cx="82296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43" name="Text 41"/>
          <p:cNvSpPr/>
          <p:nvPr/>
        </p:nvSpPr>
        <p:spPr>
          <a:xfrm>
            <a:off x="4206240" y="3657600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212080" y="36393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微调即可，无需大动作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课后工具包第1项：日/周人力匹配看板Excel模板（含自动计算缺口公式）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工具：周度人力预测与预备表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周度人力预测（示例：营销项目开门红周）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预测订单量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6324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02336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8348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0372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6384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22860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标准人力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06324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02336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8348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4360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0372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863840" y="22860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" y="27889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调整后人力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10312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06324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02336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8348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90372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863840" y="2788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008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实际在岗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10312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06324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02336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8348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94360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68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0372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53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7863840" y="32918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008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21031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306324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02336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98348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94360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-2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90372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-1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863840" y="3794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4008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210312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06324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02336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98348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94360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90372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周六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863840" y="15087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周日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40080" y="1719072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5" name="Shape 53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FEF3C7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周五峰值1500通需70人——需提前2周通知外包商增补，安排弹性人力到位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工具演练：用Excel快速搭建人力匹配表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657600"/>
          </a:xfrm>
          <a:prstGeom prst="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43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人力匹配表搭建步骤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16459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645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输入基础数据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近4周日均订单量、平均处理时长、各外包商在岗人数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1031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1031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45920" y="2103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计算标准人力需求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0" y="21031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=日均订单量 x 平均处理时长 / 每人日有效工时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25603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25603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645920" y="25603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叠加难度系数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5760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催收x1.3 / 客服x1.0 / 营销x1.2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2960" y="30175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175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叠加缓冲系数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0" y="3017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常规x1.1 / 活动期x1.3，生成最终人力需求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22960" y="34747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34747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45920" y="34747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对比现有供给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657600" y="34747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 vs 各商合计在岗 = 缺口（红色预警）或冗余（黄色提示）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" y="3931920"/>
            <a:ext cx="64008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93192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6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645920" y="3931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输出调度建议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657600" y="3931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缺口→发起增援流程；冗余→释放至人力池或调休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情景模拟：突发营销活动，人力缺口30%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情景设定：行方临时决定下周启动"信用卡分期冲刺周"，日均外呼量从2000通增至2600通，人力缺口30%。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737360"/>
            <a:ext cx="2560320" cy="301752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37360"/>
            <a:ext cx="2560320" cy="41148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短期应急（24h内）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启动人力池跨商调拨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非核心项目人员临时支援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延长现有人员工时（加班/调班）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调整外呼策略：集中打高意向名单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737360"/>
            <a:ext cx="2560320" cy="301752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329184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中期增援（3天内）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通知外包商加派人手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启动临时工/实习生补充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智能外呼系统辅助分流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调整排班增开晚班时段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2560320" cy="301752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7373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长期预防（复盘后）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09360" y="2286000"/>
            <a:ext cx="21945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建立活动日历预警机制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与外包商约定弹性增补条款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储备兼职人员名单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活动前2周启动人力预备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缺编预警与增援流程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23444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预警触发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日人力看板缺口&gt;5%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或周预测缺口&gt;10%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234440"/>
            <a:ext cx="731520" cy="7315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内部调配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88036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人力池跨商调拨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非核心项目支援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延长工时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49240" y="123444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34924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4632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外部增援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通知外包商增补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48h内到位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弹性人力激活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98080" y="1234440"/>
            <a:ext cx="731520" cy="7315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0" y="128016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699516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效果验证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178040" y="2468880"/>
            <a:ext cx="14173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606040"/>
            <a:ext cx="1691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增援后每日核对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出勤率+人效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3日复盘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关键时间节点：预警→24h内调配→48h内外部增援→3日内效果验证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多商排班冲突解决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排班冲突常见场景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时段冲突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A商和B商同时需要某时段增人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22960" y="2368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技能冲突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5877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只有A商有某业务资质，但A商人手不足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017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加班冲突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97280" y="3273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外包商不愿额外加班，行方需赶进度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" y="37398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703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调休冲突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97280" y="3959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多人同时申请调休，现场人力不足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三步裁定法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1：需求方协商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双方直接沟通，看能否错峰或共享资源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2：监理裁定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按"行方核心业务优先"原则裁定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3：行方终裁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涉及重大业务影响时，由行方业务主管做最终裁决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附：裁定记录留档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每次裁定需书面记录原因，纳入月度复盘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出勤率管理：别让"名义到位"蒙蔽你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99999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50人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名义在岗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00584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35人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实际出勤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26480" y="1005840"/>
            <a:ext cx="256032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126480" y="10972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30人等量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有效工时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063240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97880" y="12801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8229600" cy="2011680"/>
          </a:xfrm>
          <a:prstGeom prst="rect">
            <a:avLst>
              <a:gd name="adj" fmla="val 363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0175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出勤率管理5条铁律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47472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合同约定出勤率下限≥95%，低于按比例扣费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1520" y="374904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每日9:00前各商报出勤，监理抽查核实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402336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不定期现场"点名"，尤其高峰期和周一/周五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9768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有效工时≠在岗时间：扣除培训/会议/休息后计算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31520" y="45720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出勤率连续3天&lt;90%的外包商，启动约谈+整改流程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算笔账：精准匹配能省多少钱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成本节约测算（催收项目示例）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9319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57784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改善后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223760" y="1554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2880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1920240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月外包费（固定50人）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93192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150万/月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577840" y="196596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223760" y="196596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359152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4048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月外包费（弹性模式）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931920" y="24048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40487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128万/月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223760" y="240487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22万/月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2798064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437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质量改善减少投诉处理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931920" y="2843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5万/月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84378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2万/月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223760" y="284378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3万/月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3236976"/>
            <a:ext cx="7680960" cy="384048"/>
          </a:xfrm>
          <a:prstGeom prst="rect">
            <a:avLst>
              <a:gd name="adj" fmla="val 19048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28269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减少加班费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931920" y="3282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8万/月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77840" y="328269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3万/月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223760" y="328269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5万/月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3675888"/>
            <a:ext cx="7680960" cy="384048"/>
          </a:xfrm>
          <a:prstGeom prst="rect">
            <a:avLst>
              <a:gd name="adj" fmla="val 19048"/>
            </a:avLst>
          </a:prstGeom>
          <a:solidFill>
            <a:srgbClr val="E0F5F3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721608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合计月节省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931920" y="37216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577840" y="372160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223760" y="3721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30万/月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4114800"/>
            <a:ext cx="7680960" cy="384048"/>
          </a:xfrm>
          <a:prstGeom prst="rect">
            <a:avLst>
              <a:gd name="adj" fmla="val 19048"/>
            </a:avLst>
          </a:prstGeom>
          <a:solidFill>
            <a:srgbClr val="E0F5F3"/>
          </a:solidFill>
          <a:ln/>
        </p:spPr>
      </p:sp>
      <p:sp>
        <p:nvSpPr>
          <p:cNvPr id="37" name="Text 35"/>
          <p:cNvSpPr/>
          <p:nvPr/>
        </p:nvSpPr>
        <p:spPr>
          <a:xfrm>
            <a:off x="731520" y="416052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年化节省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93192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577840" y="416052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223760" y="416052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360万/年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活动日历预警机制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行方业务活动日历（示例）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1月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91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信用卡开门红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+200%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297680" y="1691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提前3周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1488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63040" y="2148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315消费者权益日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+50%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1488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提前2周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26060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6060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63040" y="26060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年中促销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9184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+120%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29768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提前3周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31520" y="30632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63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63040" y="30632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开学季营销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91840" y="30632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+80%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297680" y="30632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提前2周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31520" y="35204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731520" y="3520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11月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63040" y="3520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双11消费贷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91840" y="35204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+150%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97680" y="35204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提前3周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31520" y="3977640"/>
            <a:ext cx="6400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3977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463040" y="39776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年末清收冲刺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91840" y="3977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+100%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297680" y="39776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提前4周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预警触发规则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增量&gt;50%：提前2周预警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增补弹性人力到位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增量&gt;100%：提前3周预警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启动临时工补充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安排加班排班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增量&gt;200%：提前4周预警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全员取消调休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启用AI辅助分流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必要时增开新场地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应急预案：人力突发缺口的SOP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人力缺口应急SOP（标准操作流程）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缺口范围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06240" y="155448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04088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汇报层级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965960"/>
            <a:ext cx="82296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19659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缺口5-10%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0" y="1965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06240" y="19659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人力池调拨+工时延长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040880" y="1965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监理自行处理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2468880"/>
            <a:ext cx="82296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73736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缺口10-20%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0040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06240" y="24688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跨商增援+临时工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040880" y="2468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报告行方主管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31520" y="2971800"/>
            <a:ext cx="82296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9718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73736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缺口20-30%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00400" y="2971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06240" y="29718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全员取消调休+AI分流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040880" y="29718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报告行方+外包商总部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731520" y="3474720"/>
            <a:ext cx="82296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4747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4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73736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缺口&gt;30%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00400" y="34747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0624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降级服务+限流+紧急增补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40880" y="34747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报告行方高层启动B计划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案例：某银行催收项目弹性人力方案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某银行信用卡催收外包项目，月均催收订单8000通，由2家外包商承接。原合同固定人力各25人，但月内单量波动7000-12000通。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低谷期20人闲置，每月浪费30万+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高峰期缺口15人，回款率下降18%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外包商报满编但出勤仅75%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弹性方案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基础人力：各15人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弹性人力：各15人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弹性计费：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基础按月收费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弹性按天计费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出勤率红线：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≥95%，低于扣费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月费降18%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高峰期回款+12%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出勤率升至93%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人力技能标签体系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为每位外包人员打上技能标签，实现"人岗精准匹配"——不只看人数，更看能力结构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109728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催收能力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17373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M1逾期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1089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1" name="Text 9"/>
          <p:cNvSpPr/>
          <p:nvPr/>
        </p:nvSpPr>
        <p:spPr>
          <a:xfrm>
            <a:off x="31089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M3逾期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M6+逾期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852160" y="1874520"/>
            <a:ext cx="118872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5852160" y="187452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诉讼催收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606040"/>
            <a:ext cx="10972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客服能力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7373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17373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089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31089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贷款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805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理财产品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606040"/>
            <a:ext cx="11887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5852160" y="260604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投诉处理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337560"/>
            <a:ext cx="10972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337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营销能力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7373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9" name="Text 27"/>
          <p:cNvSpPr/>
          <p:nvPr/>
        </p:nvSpPr>
        <p:spPr>
          <a:xfrm>
            <a:off x="17373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信用卡分期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1089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1" name="Text 29"/>
          <p:cNvSpPr/>
          <p:nvPr/>
        </p:nvSpPr>
        <p:spPr>
          <a:xfrm>
            <a:off x="31089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消费贷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4805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3" name="Text 31"/>
          <p:cNvSpPr/>
          <p:nvPr/>
        </p:nvSpPr>
        <p:spPr>
          <a:xfrm>
            <a:off x="44805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保险推介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852160" y="3337560"/>
            <a:ext cx="118872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35" name="Text 33"/>
          <p:cNvSpPr/>
          <p:nvPr/>
        </p:nvSpPr>
        <p:spPr>
          <a:xfrm>
            <a:off x="5852160" y="33375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活动推荐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69080"/>
            <a:ext cx="109728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0690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资质标签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7373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39" name="Text 37"/>
          <p:cNvSpPr/>
          <p:nvPr/>
        </p:nvSpPr>
        <p:spPr>
          <a:xfrm>
            <a:off x="17373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内训师认证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1089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1" name="Text 39"/>
          <p:cNvSpPr/>
          <p:nvPr/>
        </p:nvSpPr>
        <p:spPr>
          <a:xfrm>
            <a:off x="31089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合规通关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4805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3" name="Text 41"/>
          <p:cNvSpPr/>
          <p:nvPr/>
        </p:nvSpPr>
        <p:spPr>
          <a:xfrm>
            <a:off x="44805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带教资格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852160" y="4069080"/>
            <a:ext cx="118872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45" name="Text 43"/>
          <p:cNvSpPr/>
          <p:nvPr/>
        </p:nvSpPr>
        <p:spPr>
          <a:xfrm>
            <a:off x="5852160" y="40690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新人标签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标签每周更新，基于通关清单、抽检得分和出勤情况动态调整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工具：人力日/周报标准模板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人力日报模板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0" y="155448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YYYY-MM-DD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3852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各商在岗人数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938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A商：__ B商：__ C商：__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322576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日需求人力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232257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__人（来源：预测模型）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06624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缺口/冗余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2706624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缺口：__人  |  冗余：__人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当日调度动作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3090672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增援/释放/加班/调休说明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747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异常事项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200400" y="347472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出勤率异常/人员变动/技能缺口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58768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次日预排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85876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预计需求：__人  已确认：__人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课后工具包第6项：人力日/周报Excel模板（含自动汇总公式）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可视化看板：让人力状态一目了然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绿区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匹配良好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缺口&lt;5%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维持运行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轻度偏差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缺口5-15%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启动调配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1097280"/>
            <a:ext cx="256032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097280"/>
            <a:ext cx="2560320" cy="50292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6126480" y="1097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红区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09360" y="1737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严重缺编</a:t>
            </a:r>
            <a:endParaRPr lang="en-US" sz="13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缺口&gt;15%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6974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紧急增援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657600"/>
            <a:ext cx="822960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3749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看板更新频率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31520" y="40233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日看板：每日9:00更新各商在岗与需求对比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周预测看板：每周五更新下周每日需求预测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月度趋势看板：每月1日更新上月实际vs预测偏差分析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按固定比例配人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0" y="105156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46320" y="10515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按预测模型+系数动态调整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05840" y="185623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只看人数不看技能结构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1856232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46320" y="1856232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技能标签匹配，人对岗位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6609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26609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出了问题才开始调配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0" y="2660904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846320" y="2660904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预警机制，提前2-3周预备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4655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005840" y="346557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信外包商报的满编数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89120" y="3465576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846320" y="3465576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核实出勤率和有效工时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702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05840" y="427024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低谷期不减人省心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389120" y="42702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846320" y="4270248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弹性模式，低谷释放节省成本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人力数据复盘：用数据说话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468880" y="10058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840480" y="1005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0" y="100584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35331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人力匹配率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68880" y="135331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0" y="13533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实际在岗/需求人力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35331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1792224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186537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468880" y="1865376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≥95%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0480" y="186537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实际出勤/名义在岗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58000" y="1865376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2304288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23774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人效（通/人/日）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68880" y="2377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行业基准以上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840480" y="237744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日均通话量/在岗人数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0" y="2377440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2816352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88950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加班占比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468880" y="2889504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≤15%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0" y="288950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加班人时/总人时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2889504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328416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40156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流失率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68880" y="340156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月≤10%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840480" y="340156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月离职人数/月均人数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858000" y="3401568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840480"/>
            <a:ext cx="8229600" cy="438912"/>
          </a:xfrm>
          <a:prstGeom prst="rect">
            <a:avLst>
              <a:gd name="adj" fmla="val 16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91363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培训完成率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468880" y="3913632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391363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通关完成人数/应培训人数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58000" y="3913632"/>
            <a:ext cx="731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换人交接：保证服务不中断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标准交接流程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离场人员提前3天通知监理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安排接班人影子跟岗2天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交接清单：客户状态+未完结事项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0175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接班人通关清单考核（关键项）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监理抽检接班人首日2通电话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离场人员末周质检得分纳入供应商评估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严禁的3种行为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当天通知当天走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新人完全没有交接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客户服务严重中断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外包商自作主张换人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监理不知情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质量风险敞口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新人直接独立上岗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未经通关考核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违规投诉概率3倍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跨商资源调配的合同保障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合同中必须明确的5个调配条款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弹性人力计费方式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874520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基础人力按月+弹性人力按天，提前48h通知到位，费用按实际天数结算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21992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219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22199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跨商借人费用分摊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2496312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借出方按实际使用天数收费，不超过单人日成本120%，避免暴利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43784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4378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71600" y="28437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加急增补响应时间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3118104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常规增补48h到岗，加急增补24h到岗，超时按日费5%扣罚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65576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6557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71600" y="346557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人员替换审批流程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739896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所有人员替换需监理审批，新员工需通过S级通关方可独立上岗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087368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0873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71600" y="408736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出勤率与付款挂钩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371600" y="43616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出勤率&lt;95%按比例扣减月费，&lt;85%额外扣罚10%，连续2月&lt;80%可解约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实操练习：计算你的项目人力需求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请根据你的实际业务，用人力配置模型计算下周人力需求（10分钟）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你的业务类型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0" y="1737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催收/客服/营销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756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近4周日均订单量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0" y="2075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____通/天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1401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单通平均处理时长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0" y="241401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____分钟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75234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每人日有效工时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75234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____小时(≈360分钟)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9067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难度系数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0906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催收1.3/客服1.0/营销1.2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6. 波动缓冲系数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0" y="3429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常规1.1/活动期1.3/旺季1.5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7673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7. 计算结果：所需人力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0" y="3767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Step4x5x6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10565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 现有在岗人数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0" y="410565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____人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444398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 缺口/冗余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0" y="44439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= 7-8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模块二核心要义与过渡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44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预测先行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26080" y="13258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用三大维度做订单预测，不是拍脑袋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9385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9202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模型驱动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26080" y="19202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人力配置模型=标准工时x难度x缓冲，有公式可依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5328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弹性为王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92608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固定人力改弹性模式，省钱还能应对波动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1272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1089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预警机制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2608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活动日历+日看板，2-4周提前预备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7033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7216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7033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926080" y="3703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6大人力KPI日/周/月追踪，用数据替代感觉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人配好了，接下来要有能力做——模块三：外包人员技能提升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补充案例：营销项目的"高峰即战力"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某银行信用卡分期营销项目，日常20人即可，但每月"分期日"当天外呼需求暴增3倍，需要即时60人战队。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基础战队20人（全职熟手）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弹性战队40人（兼职+临时工）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AI外呼系统承担30%初筛量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分期日前1天集中话术培训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实时大屏监控接通/转化数据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关键指标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60人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406640" y="155448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即时响应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3x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高峰弹性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2h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06640" y="26517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临时工上岗培训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406640" y="32004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成本节约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模块二总结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预测先行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三大维度做订单预测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人力配置=工时x难度x缓冲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12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弹性模式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97180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9"/>
          <p:cNvSpPr/>
          <p:nvPr/>
        </p:nvSpPr>
        <p:spPr>
          <a:xfrm>
            <a:off x="274320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基础+弹性双轨制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活动日历+预警机制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75488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394960" y="128016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84632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人力池管理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512064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3"/>
          <p:cNvSpPr/>
          <p:nvPr/>
        </p:nvSpPr>
        <p:spPr>
          <a:xfrm>
            <a:off x="489204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跨商调拨+出勤率管控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技能标签+人岗匹配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0372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99516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500" dirty="0"/>
          </a:p>
        </p:txBody>
      </p:sp>
      <p:sp>
        <p:nvSpPr>
          <p:cNvPr id="21" name="Shape 16"/>
          <p:cNvSpPr/>
          <p:nvPr/>
        </p:nvSpPr>
        <p:spPr>
          <a:xfrm>
            <a:off x="726948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Text 17"/>
          <p:cNvSpPr/>
          <p:nvPr/>
        </p:nvSpPr>
        <p:spPr>
          <a:xfrm>
            <a:off x="704088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6大KPI+可视化看板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日报周报模板化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57200" y="41148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4" name="Text 1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课后工具包第1项：日/周人力匹配看板  |  课后练习：计算你项目的人力需求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外包人员技能提升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13:30-15:00  |  现场赋能体系：让外包人员从"能上岗"到"能打胜仗"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为什么技能提升是监理的核心任务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外包人员流动率高达30-45%，如果不建立快速赋能机制，永远是"新人在犯错-老人在救火"的死循环。监理不是培训师，但必须是"赋能总设计师"。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9436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催收岗月流失率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新人占比过高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0604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3x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新人违规率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是老员工的3倍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1天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9204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平均上岗培训时长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远低于合格线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03720" y="2286000"/>
            <a:ext cx="196596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37744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70%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7040880" y="3017520"/>
            <a:ext cx="1691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抽检不合格中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新人占7成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目标：新人7天内从"不能独立上岗"到"标准作业达标"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技能分层模型：S→A→B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59436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合规通关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入职必须达标的底线能力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法律法规红线知识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基本信息系统操作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基础话术标准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质检合格线(70分)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2011680" cy="365760"/>
          </a:xfrm>
          <a:prstGeom prst="rect">
            <a:avLst>
              <a:gd name="adj" fmla="val 12500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0违规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05840"/>
            <a:ext cx="2560320" cy="5943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06908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标准作业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47472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独立完成日常工作的能力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566160" y="21945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9" name="Text 17"/>
          <p:cNvSpPr/>
          <p:nvPr/>
        </p:nvSpPr>
        <p:spPr>
          <a:xfrm>
            <a:off x="3566160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完整业务流程操作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常见问题处理方案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服务规范全程达标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质检优良线(85分)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566160" y="4114800"/>
            <a:ext cx="2011680" cy="365760"/>
          </a:xfrm>
          <a:prstGeom prst="rect">
            <a:avLst>
              <a:gd name="adj" fmla="val 12500"/>
            </a:avLst>
          </a:prstGeom>
          <a:solidFill>
            <a:srgbClr val="0052D9"/>
          </a:solidFill>
          <a:ln/>
        </p:spPr>
      </p:sp>
      <p:sp>
        <p:nvSpPr>
          <p:cNvPr id="21" name="Text 19"/>
          <p:cNvSpPr/>
          <p:nvPr/>
        </p:nvSpPr>
        <p:spPr>
          <a:xfrm>
            <a:off x="35661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30天达标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005840"/>
            <a:ext cx="2560320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126480" y="1005840"/>
            <a:ext cx="822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03720" y="1005840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高价值作业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09360" y="1737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超越标准创造额外价值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1945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0" y="2331720"/>
            <a:ext cx="20116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复杂场景灵活应对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话术创新与优化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主动挖掘客户需求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带教新员工能力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400800" y="4114800"/>
            <a:ext cx="2011680" cy="365760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3个月培养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S级通关清单：新员工上岗必过23项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系统操作10项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系统登录与权限确认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31520" y="176479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客户信息查询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197510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通话记录录入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1854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工单创建与转派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3957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质检系统打分操作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260604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录音回放与标注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8163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客户标签添加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0266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报表查看与导出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31520" y="323697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异常工单上报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0" y="34472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系统应急登录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话术演练8项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开场白标准话术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029200" y="175564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身份核验话术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0" y="195681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业务核实话术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029200" y="215798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异议处理话术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0" y="235915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承诺确认话术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0" y="256032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完结话术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276148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投诉安抚话术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029200" y="296265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转接引导话术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3017520"/>
            <a:ext cx="393192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29200" y="3154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合规红线5项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0" y="3566160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禁止恐吓威胁话术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0" y="3767328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禁止私承诺减免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0" y="3968496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禁止泄露客户信息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169664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禁止伪造通话记录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0" y="4370832"/>
            <a:ext cx="3383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□ 禁止引导客户选择特定产品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A级进阶：30天独立作业达标路径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跟岗+S级强化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影子跟岗3天→独立操作2天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每日跟听3通+反馈卡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S级23项全部通关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质检得分≥75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09728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74320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标准流程操作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8892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独立完成全流程操作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常见问题场景训练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抽检覆盖所有业务类型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质检得分≥80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97280"/>
            <a:ext cx="196596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复杂场景突破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93776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处理3类典型复杂场景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话术灵活运用（非死记硬背）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投诉安抚独立完成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质检得分≥85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903720" y="1097280"/>
            <a:ext cx="196596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7040880" y="128016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040880" y="1645920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达标确认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086600" y="2011680"/>
            <a:ext cx="16002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148840"/>
            <a:ext cx="169164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独立操作无监理介入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抽检5通均分≥85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首次解决率达标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正式确认A级资质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B级高价值员：3个月培养路径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B级能力画像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2821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916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复杂场景灵活应对（纠纷/投诉/高价值客户）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07568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203911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话术创新与优化（基于实战反馈迭代改进）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42316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238658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主动挖掘客户需求（不只执行，有销售思维）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77063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734056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带教新员工能力（可担任影子跟岗导师）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1181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08152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质检得分稳定≥90分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46557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3429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可作为内训师候选人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97280"/>
            <a:ext cx="3931920" cy="3200400"/>
          </a:xfrm>
          <a:prstGeom prst="rect">
            <a:avLst>
              <a:gd name="adj" fmla="val 2286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2344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B级培养方式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645920"/>
            <a:ext cx="338328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月度1对1深度辅导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由监理亲自带教，每月1次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场景挑战赛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每月1次复杂场景模拟PK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跨商经验分享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月度"最佳实践"分享会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内训师认证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通过后可正式带教新人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监理主导的"短频快"赋能三板斧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" y="118872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864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5分钟/天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914400" y="25603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6"/>
          <p:cNvSpPr/>
          <p:nvPr/>
        </p:nvSpPr>
        <p:spPr>
          <a:xfrm>
            <a:off x="68580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昨日前3个典型录音回放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正例+反例各1个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当日注意重点1句话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全员举牌确认理解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9184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38328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跟听即时反馈卡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38328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每通话1次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749040" y="25603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1"/>
          <p:cNvSpPr/>
          <p:nvPr/>
        </p:nvSpPr>
        <p:spPr>
          <a:xfrm>
            <a:off x="352044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针对催收话术关键点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针对客服应答规范性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针对营销转化节奏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即时贴在工位可见处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95160" y="118872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217920" y="1828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技能PK榜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17920" y="2194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每日一题/周冠军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83680" y="25603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6"/>
          <p:cNvSpPr/>
          <p:nvPr/>
        </p:nvSpPr>
        <p:spPr>
          <a:xfrm>
            <a:off x="6355080" y="2697480"/>
            <a:ext cx="21031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每日发布1道场景题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周度评分排名公示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月度冠军通报表扬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积分兑换小奖品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晨会微案例：5分钟改变一周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晨会微案例操作模板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64592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昨日Top3回放（2分钟）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播放1个优秀案例+1个反面案例，不超过30秒/段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4028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4028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关键点评（1分钟）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24688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正例："这段话术好在哪里" 反例："问题出在哪，正确做法是什么"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3464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83464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当日重点（1分钟）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306324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1句话提炼今日注意要点，写在大屏/白板显著位置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429000"/>
            <a:ext cx="54864" cy="4572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429000"/>
            <a:ext cx="4389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全员确认（1分钟）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6576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全员举牌/口述确认理解，重点人员当面复述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成功要点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每天坚持，不可中断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3天不办效果归零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录音要精选，不要随机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正例选有亮点的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反例选有典型性的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点评要具体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不说"要注意"而说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"这里应该用XX话术"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全员确认不能省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防止"听过了但没进脑"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跟听即时反馈卡：每通电话都是成长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反馈卡模板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日期/时间段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46888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____年__月__日  __:__-__:__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被跟听人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46888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____________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2860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业务类型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68880" y="22860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 / 客服 / 营销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正面发现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做得好的1-2点：________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017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改善建议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30175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建议改进的1点及具体做法：________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33832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468880" y="33832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1-5分：____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840480"/>
            <a:ext cx="4389120" cy="320040"/>
          </a:xfrm>
          <a:prstGeom prst="rect">
            <a:avLst>
              <a:gd name="adj" fmla="val 22857"/>
            </a:avLst>
          </a:prstGeom>
          <a:solidFill>
            <a:srgbClr val="E0F5F3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8620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卡片即时手写，贴在工位→当天可见→次日复核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跟听策略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每日跟听优先级：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新人（入职&lt;30天）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黄牌预警人员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抽检低分人员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随机抽听老员工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跟听频率：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新人：每日2-3通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黄牌：每日1-2通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老员工：每周1通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跟听重点：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合规话术&gt;服务规范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&gt;业务准确&gt;沟通技巧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技能PK榜：让学习变成竞赛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PK榜运营规则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每日一题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6459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发布1道场景判断题或话术填空题，答题截止当天12:00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评分公示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011680" y="2148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当日17:00公布正确答案+排名，实时更新积分榜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69748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97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周冠军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6517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周积分最高者获"本周技能王"称号+小奖品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011680" y="31546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月度冠军通报外包商总部+优先参与行方活动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703320"/>
            <a:ext cx="1097280" cy="274320"/>
          </a:xfrm>
          <a:prstGeom prst="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7033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积分兑换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6576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累计积分可兑换奶茶券/视频会员/调休半天等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出题方向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催收方向：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合规红线判断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话术场景选择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客户异议应对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客服方向：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投诉处理流程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情绪安抚技巧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转接规范判定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营销方向：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需求挖掘话术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产品推荐切入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拒绝后再营销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外包商内训师"监理认证制"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内训师"监理认证制"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每个外包商指定1-2名内训师，由监理考核认证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认证标准：业务考试90分+ + 监理旁听3次无重大问题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5968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内训师需按月提交培训计划，监理审批后执行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内训师绩效与团队质检得分挂钩（占比30%）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未通过认证者不得独立带教新员工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931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每半年复评一次，不合格者取消资格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内训师画像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必备条件：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在岗3个月以上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质检均分≥90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无合规违规记录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沟通表达能力强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工作职责：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制定月度培训计划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新人通关带教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每周1次小组培训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收集典型录音案例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内训师津贴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团队质检挂钩奖金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优先晋升通道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新员工"影子跟岗+通关清单"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新员工"影子跟岗+通关清单"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0078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1：影子跟岗，观察资深员工全流程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20370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4884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2-3："通关清单"逐项实操，内训师打分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70662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651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通关清单覆盖：系统操作10项+话术演练8项+合规红线5项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20954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1546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全部通关后，监理抽检2通电话确认达标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65760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未通关者延长跟岗，7天内仍未达标则退回外包商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1430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新人退回红线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338328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7天未通过S级通关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合规红线考试不合格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态度消极拒绝配合培训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抽检2通均不合格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退回流程：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内训师提交退回建议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监理确认+1对1面谈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通知外包商48h内换人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退回记录纳入供应商评估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退回不是目的，帮扶优先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黄牌预警期内给予充分支持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低绩效人员"红黄牌"帮扶流程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8404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黄牌预警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连续2周质检得分 &lt; 75分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1次重大合规失误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6517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帮扶动作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3063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监理1对1面谈反馈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制定1周改善计划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指定带教导师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每日跟听2通复核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2560320" cy="38404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橙牌整改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7472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7472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黄牌后1周仍未达标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累计3次一般性违规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566160" y="26517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帮扶动作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通知外包商主管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书面整改通知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2周重点观察期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每日反馈卡存档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26480" y="1005840"/>
            <a:ext cx="2560320" cy="384048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6126480" y="10058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红牌退回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309360" y="1645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9360" y="19202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2周整改期仍未达标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或 发生严重违规事件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265176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78892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帮扶动作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309360" y="3063240"/>
            <a:ext cx="21945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书面退回通知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外包商48h内换人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退回人员不得重返本项目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相应扣减外包费用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黄牌1对1面谈话术模板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黄牌预警人员1对1面谈5步法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步骤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71600" y="155448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动作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651760" y="15544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推荐话术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58000" y="15544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74520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74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1874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开场建信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18288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"今天找你聊聊最近质检的情况，先听听你自己怎么看？"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0" y="18745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先听，让他说感受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313432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31343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231343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26771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"我注意到两个点，XX和XX，你觉得哪个更影响效果？"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231343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聚焦不要泛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752344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752344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371600" y="2752344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根因挖掘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51760" y="270662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"是因为不熟悉流程，还是操作慢？我们一起来定位。"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58000" y="2752344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找根因不是下定论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3191256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191256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3191256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对策共创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51760" y="31455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"接下来一周，每天重点练XX，我每天跟听一通给你反馈，怎么样？"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3191256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要员工参与方案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630168"/>
            <a:ext cx="4572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630168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371600" y="36301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闭环确认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651760" y="35844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"周五我们再复盘一次，看看改善效果。有什么困难随时找我。"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858000" y="363016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确认改善时间点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角色扮演：如何给一名外包客服做短板辅导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场景：外包客服小张连续2次质检未达标，主要问题为"客户情绪安抚不及时"和"问题转接超时"。请两人一组，一人扮演监理，一人扮演小张，完成辅导对话。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开场建信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"小张，今天找你聊聊最近两次质检的情况，先听听你自己怎么看？"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82880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91840" y="182880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84048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问题聚焦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"我注意到两个点，情绪安抚和问题转接，你觉得哪个更影响客户体验？"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26480" y="182880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18288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675120" y="1828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根因挖掘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63640" y="22402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"转接超时是因为不熟悉流程，还是系统操作慢？我们一起来定位。"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29184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29184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对策共创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703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"接下来一周，每天重点练情绪安抚三步法，我每天跟听一通电话给你反馈，怎么样？"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91840" y="3291840"/>
            <a:ext cx="2560320" cy="1188720"/>
          </a:xfrm>
          <a:prstGeom prst="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91840" y="329184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28" name="Text 26"/>
          <p:cNvSpPr/>
          <p:nvPr/>
        </p:nvSpPr>
        <p:spPr>
          <a:xfrm>
            <a:off x="3291840" y="329184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0" y="32918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闭环确认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29000" y="370332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"周五我们再复盘一次，看看改善效果。有什么困难随时找我。"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催收话术专项赋能框架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催收话术4大场景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70078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6459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承诺还款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190195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语气坚定不放纵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还款金额+时间确认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录音存证+短信提醒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34086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28600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情绪对抗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54203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不激怒不失态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换位理解+降温话术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不纠缠，适时转催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" y="298094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260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虚假承诺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97280" y="318211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识别3大信号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要求具体到日到账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设置承诺到期复查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22960" y="3621024"/>
            <a:ext cx="109728" cy="109728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35661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投诉威胁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8221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不争辩不退让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记录投诉内容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转投诉处理流程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话术训练方法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优秀录音库（月度更新）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收集每月Top10优秀录音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按场景分类存储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对标训练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听1遍→复述1遍→实操1遍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3遍练习法巩固效果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角色互练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两人一组：催收员+客户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互换角色深化理解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监理当场点评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演练完即点评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正面先行+具体建议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客服共情力专项赋能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共情力3步法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400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先听后说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31520" y="1965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"我理解您的心情"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确认客户感受，不急于给方案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560320"/>
            <a:ext cx="6400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5603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560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共情回应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2880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"换做是我也会着急"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用客户视角回应，建立信任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474720"/>
            <a:ext cx="64008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4747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34747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引导解决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31520" y="3794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"我现在帮您查一下/转接到XX"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确认感受后立即行动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训练方式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录音对比训练：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同一场景，有共情 vs 无共情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让员工听后说感受差异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客户视角体验：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员工扮演客户打电话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亲身体验不同话术的感受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周度"最佳共情"评选：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客户评价最高的通话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在晨会播放+表彰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营销转化力专项赋能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营销话术4段式框架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开场吸引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"您好，今天是XX银行特惠日..."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3秒抓住注意力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需求探测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6517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"请问您最近有XX需求吗？"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开放式提问找痛点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97180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71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价值呈现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"我们的方案可以帮助您..."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利益话术，不是产品介绍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611880"/>
            <a:ext cx="109728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611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促单确认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31520" y="39319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"那我现在帮您办理，您看可以吗？"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时机到了就推，不拖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转化率提升技巧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最佳拨打时段：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10:00-11:30 / 14:00-16:00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避开午休和下班高峰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客户分层拨打：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高意向优先→中意向跟进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→低意向培育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失败后再营销：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"我理解您暂时不需要，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后续有新活动我第一时间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通知您"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留住种子客户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优秀录音库：把最佳实践固化下来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录音库建设标准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每月收集各商Top10优秀录音+Top5反面录音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按场景分类：催收承诺/客服安抚/营销转化/投诉处理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5968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每段录音必须附带"好在哪里/差在哪里"点评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175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优秀录音作为新员工通关学习材料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反面录音作为晨会案例素材（脱敏处理）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684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1143000" y="39319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月度更新，过季录音归档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分类索引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[催收]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承诺还款类 x5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情绪对抗类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虚假承诺类 x2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[客服]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安抚类 x4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转接类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投诉类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[营销]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促单类 x5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异议处理 x3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再营销 x2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月度培训日历规划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月度赋能计划（示例）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频次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920240" y="1554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297680" y="15544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参与者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时长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1847088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84708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920240" y="18288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0" y="182880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760720" y="182880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5分钟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2176272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17627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20240" y="21579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跟听+即时反馈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297680" y="215798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新人+黄牌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215798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10分钟/人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2505456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250545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24871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PK榜答题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248716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760720" y="248716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2分钟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2834640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28346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920240" y="281635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小组培训（内训师）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28163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商内小组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60720" y="2816352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1520" y="3163824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31" name="Text 29"/>
          <p:cNvSpPr/>
          <p:nvPr/>
        </p:nvSpPr>
        <p:spPr>
          <a:xfrm>
            <a:off x="731520" y="316382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每周1次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920240" y="314553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跨商经验分享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297680" y="3145536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B级员工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760720" y="3145536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20分钟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31520" y="3493008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349300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每2周1次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20240" y="34747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质检校准会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297680" y="3474720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内训师+监理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760720" y="347472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45分钟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31520" y="3822192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41" name="Text 39"/>
          <p:cNvSpPr/>
          <p:nvPr/>
        </p:nvSpPr>
        <p:spPr>
          <a:xfrm>
            <a:off x="731520" y="3822192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920240" y="380390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场景挑战赛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297680" y="3803904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760720" y="3803904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1小时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" y="4151376"/>
            <a:ext cx="914400" cy="22860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46" name="Text 44"/>
          <p:cNvSpPr/>
          <p:nvPr/>
        </p:nvSpPr>
        <p:spPr>
          <a:xfrm>
            <a:off x="731520" y="4151376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920240" y="413308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内训师复评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297680" y="4133088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760720" y="413308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30分钟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赋能效果衡量指标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1155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新人上岗达标周期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115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14天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0" y="11155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1155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64592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175564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新人质检合格率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175564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29200" y="17556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39572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黄牌转正率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00400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239572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29200" y="239572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75%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03580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全员质检均分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00400" y="3035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303580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029200" y="303580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85分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457200" y="356616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3675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月度流失率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200400" y="3675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0" y="367588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029200" y="36758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57200" y="4206240"/>
            <a:ext cx="8229600" cy="530352"/>
          </a:xfrm>
          <a:prstGeom prst="rect">
            <a:avLst>
              <a:gd name="adj" fmla="val 1379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431596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B级员工占比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200400" y="4315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0" y="43159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029200" y="431596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35" name="Text 33"/>
          <p:cNvSpPr/>
          <p:nvPr/>
        </p:nvSpPr>
        <p:spPr>
          <a:xfrm>
            <a:off x="640080" y="489204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以上为行业基准参考值，请根据实际项目情况设定目标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跨商技能一致性：统一标准统一动作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核心问题：A商员工合规率95%，B商仅80%——同一业务、同一行方标准，为何执行差距如此大？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920240"/>
            <a:ext cx="2560320" cy="7315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统一通关清单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所有商使用相同S级23项通关清单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监理统一验收标准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不达标者一律延长跟岗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9184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920240"/>
            <a:ext cx="2560320" cy="7315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统一晨会模版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566160" y="25146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每日晨会使用统一PPT模板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案例从全商录音库选取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当日重点由监理发布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920240"/>
            <a:ext cx="2560320" cy="7315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2103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统一内训师标准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0" y="25146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6309360" y="2651760"/>
            <a:ext cx="21945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所有商内训师需通过监理认证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每季度校准培训内容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防止各商"自说自话"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现场知识库：把经验变成资产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知识库内容架构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45920" y="164592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按场景分类的标准话术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每月更新Top10优秀话术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645920" y="224028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典型纠纷/投诉/转化案例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含处理流程与结果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288036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8803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45920" y="28346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红线清单+底线话术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违规案例与后果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4747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342900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客户高频问题+标准应答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根据月度新增更新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069080"/>
            <a:ext cx="73152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069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645920" y="4023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优秀录音+反面录音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按场景标签检索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知识库运营规则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更新频率：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话术库：月度更新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案例库：实时录入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合规库：政策变化即更新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FAQ库：周度更新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录音库：月度更新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维护责任人：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监理总负责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各商内训师供稿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B级员工参与编写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访问方式：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共享云盘+现场白板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新老员工均可随时查阅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外包人员心理健康关注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高压岗位的心理信号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16824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情绪波动大：通话中语气急躁或冷漠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22960" y="21396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1031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出勤异常：突然频繁请假或迟到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822960" y="25968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25603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质检下滑：无明显原因的质量下降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0540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30175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社交退缩：不再参加团队活动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" y="351129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143000" y="34747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工作逃避：尽量少接电话或转接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监理关注动作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跟听中发现语气异常→即时关注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不定期1对1聊聊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"最近感觉怎么样？"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不评判，只倾听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建议外包商安排团建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月度1次轻松活动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必要时转介EAP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心理热线：XXX-XXXX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避免公开批评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高压环境下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公开批评影响巨大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培训就是上课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培训=跟听+反馈+实践+复盘，上课只是1/4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一次培训管半年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短频快：每天5分钟&gt;每月1小时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只培训新员工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70662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老员工同样需要进阶赋能和话术更新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培训全靠内训师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5112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监理是赋能总设计师，内训师是执行者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培训效果无法衡量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6大衡量指标量化追踪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课后工具包：技能提升相关工具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0" cy="502920"/>
          </a:xfrm>
          <a:prstGeom prst="rect">
            <a:avLst>
              <a:gd name="adj" fmla="val 9091"/>
            </a:avLst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54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508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外包人员技能分层与通关清单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19202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S/A/B三级考核项明细，可打印勾选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743200"/>
            <a:ext cx="8229600" cy="1097280"/>
          </a:xfrm>
          <a:prstGeom prst="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926080"/>
            <a:ext cx="548640" cy="502920"/>
          </a:xfrm>
          <a:prstGeom prst="rect">
            <a:avLst>
              <a:gd name="adj" fmla="val 9091"/>
            </a:avLst>
          </a:prstGeom>
          <a:solidFill>
            <a:srgbClr val="0052D9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260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880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监理现场巡场与即时反馈卡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71600" y="32918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跟听打分+即时点评模板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实操练习：设计你项目的周赋能计划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请根据你的项目情况，设计1周的赋能计划（15分钟）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10312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22376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1737360"/>
            <a:ext cx="1188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0312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8328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23760" y="219456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74320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跟听重点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0312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8328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6344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94360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223760" y="28346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38328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PK题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10312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6344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23760" y="3474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4023360"/>
            <a:ext cx="8229600" cy="548640"/>
          </a:xfrm>
          <a:prstGeom prst="rect">
            <a:avLst>
              <a:gd name="adj" fmla="val 1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其他赋能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10312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8328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66344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23760" y="41148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________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案例：催收项目S级通关后合规率提升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某银行催收外包项目，2家商各30人。新人上岗仅1天培训，合规率持续低迷，月均违规5件+。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改善措施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5603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新人7天S级通关制（23项全部达标）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每日晨会播放1正1反录音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新人每日跟听2通+即时反馈卡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内训师认证制（每商2名）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黄牌帮扶流程严格执行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035040" y="15544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406640" y="155448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合规率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(原82%)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035040" y="21031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7天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406640" y="21031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新人达标周期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(原14天)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035040" y="2651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1件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406640" y="26517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月均违规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(原5件)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035040" y="3200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-40%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06640" y="32004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客户投诉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(大幅下降)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模块三核心要义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52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6304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1234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S级通关（23项）→A级30天达标 →B级3个月培养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8928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874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赋能三板斧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晨会微案例+跟听反馈卡+技能PK榜，短频快执行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146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5328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5146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红黄牌帮扶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2514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预警→整改→退回，有流程有标准有温度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31546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1729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63040" y="31546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内训师制度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31546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监理认证+绩效挂钩，让外包商自己承担培训责任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960" y="37947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130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463040" y="37947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效果衡量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926080" y="37947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6大指标量化追踪，用数据证明赋能价值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人配好了、技能赋能了，接下来要守住质量、驱动业绩——模块四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模块三总结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技能分层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S/A/B三级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23项通关清单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0604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46120" y="12801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69748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赋能三板斧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97180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Text 9"/>
          <p:cNvSpPr/>
          <p:nvPr/>
        </p:nvSpPr>
        <p:spPr>
          <a:xfrm>
            <a:off x="274320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晨会+反馈卡+PK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短频快每日执行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75488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84632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内训师制度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12064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3"/>
          <p:cNvSpPr/>
          <p:nvPr/>
        </p:nvSpPr>
        <p:spPr>
          <a:xfrm>
            <a:off x="489204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监理认证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绩效挂钩培训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690372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43800" y="128016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99516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红黄牌帮扶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6948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预警→整改→退回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有标准有温度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457200" y="41148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课后工具包第2/3项：通关清单+即时反馈卡  |  练习：设计周赋能计划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质量稳定与业绩提升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15:15-16:30  |  监理双引擎：守住底线+驱动增长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为什么质量和业绩是"双引擎"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097280"/>
          </a:xfrm>
          <a:prstGeom prst="rect">
            <a:avLst>
              <a:gd name="adj" fmla="val 6667"/>
            </a:avLst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质量是底线，业绩是目标。守住质量才能持续经营，驱动业绩才能体现价值。两者不是割裂的，而是"守门+驱动"的双引擎循环。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411480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286000"/>
            <a:ext cx="4114800" cy="5029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守门引擎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多商一致性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投诉降到可控范围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286000"/>
            <a:ext cx="4114800" cy="2286000"/>
          </a:xfrm>
          <a:prstGeom prst="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46320" y="2286000"/>
            <a:ext cx="411480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22860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驱动引擎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120640" y="2926080"/>
            <a:ext cx="3566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业绩过程拆解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激励杠杆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PDCA改进闭环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质量稳定"三道防线"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2560320" cy="777240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第一道防线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AI质检关键词预警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423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合规红线词实时监测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敏感话术自动拦截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违规录音即时标记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可疑通话批量输出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005840"/>
            <a:ext cx="2560320" cy="77724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第二道防线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47472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监理日抽检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566160" y="22860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2423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每日抽检覆盖所有外包商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每商至少抽检5通电话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重点抽检：投诉人、新人、低分员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抽检记录当日反馈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26480" y="1005840"/>
            <a:ext cx="2560320" cy="374904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005840"/>
            <a:ext cx="256032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第三道防线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309360" y="1920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共性错误复盘会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0" y="2286000"/>
            <a:ext cx="20116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6355080" y="2423160"/>
            <a:ext cx="21031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每周1次跨商复盘会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收集共性错误Top 5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制定纠正措施与时间表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下周复查整改效果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AI质检关键词预警系统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AI质检关键词体系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催收红线词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[恐吓类] 不还就告/上门/冻结账户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[承诺类] 我帮你减免/可以分期免息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[侮辱类] 你是不是不想还/你这种人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客服敏感词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306324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[推诿类] 这个我管不了/不归我管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[态度类] 你说的不对/你理解错了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[泄露类] 你的密码是XX/账号余额XX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3840480"/>
            <a:ext cx="1097280" cy="274320"/>
          </a:xfrm>
          <a:prstGeom prst="rect">
            <a:avLst>
              <a:gd name="adj" fmla="val 16667"/>
            </a:avLst>
          </a:prstGeom>
          <a:solidFill>
            <a:srgbClr val="FEE2E2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8404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营销违规词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60520"/>
            <a:ext cx="4389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[误导类] 保证收益/零风险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[强迫类] 必须买/不办就没了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[对比类] 比XX银行好多了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预警响应流程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150876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关键词命中→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实时弹窗提醒监理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自动标记录音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红线词：红色标记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敏感词：黄色标记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红线词即时复核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监理15分钟内听录音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确认违规即启动流程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每日汇总报告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命中次数+分布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按商/按人统计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监理日抽检操作规范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日抽检5步法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64592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系统导出昨日通话清单（按商分组）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每商随机抽取5通+定向抽取（新人/低分员各1通）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65176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6517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6517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按评分卡逐项打分，记录扣分点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5468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31546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当日16:00前反馈至对应人员+内训师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6576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65760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80160" y="3657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共性问题记录→纳入周复盘会素材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4114800"/>
            <a:ext cx="32004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160520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每日抽检总量：15-20通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重点抽检清单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新员工（入职&lt;30天）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每人至少1通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黄牌预警人员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每日至少1通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低分员（质检&lt;75）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优先抽检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客户投诉关联通话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投诉后必查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⚠ AI标记的可疑通话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黄色标记优先听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周度共性错误复盘会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复盘会流程（45分钟）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9164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916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0-5分钟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回顾上周Top5错误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828800" y="193852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播放录音+标记关键问题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945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5-15分钟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82880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根因分析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828800" y="244144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每个错误分析：是话术问题?流程问题?态度问题?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269748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697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15-30分钟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828800" y="2697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纠正措施制定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828800" y="294436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针对每个根因制定1-2个改善动作+责任人+时间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2004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30-40分钟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2880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校准打分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828800" y="344728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同一段录音各商独立打分，偏差&gt;10分讨论统一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1520" y="3703320"/>
            <a:ext cx="914400" cy="274320"/>
          </a:xfrm>
          <a:prstGeom prst="rect">
            <a:avLst>
              <a:gd name="adj" fmla="val 16667"/>
            </a:avLst>
          </a:prstGeom>
          <a:solidFill>
            <a:srgbClr val="E0F5F3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40-45分钟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28800" y="3703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追踪确认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828800" y="3950208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上周改善动作执行情况确认+未完成者说明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复盘会产出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本周Top5共性错误清单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每个错误的根因判定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纠正措施+责任人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+完成时限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评分校准结果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（偏差是否消除）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上周改善动作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追踪记录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多外包商质量一致性管理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640080"/>
          </a:xfrm>
          <a:prstGeom prst="rect">
            <a:avLst>
              <a:gd name="adj" fmla="val 11429"/>
            </a:avLst>
          </a:prstGeom>
          <a:solidFill>
            <a:srgbClr val="E0F5F3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核心问题：A商质检85分、B商62分，同一业务不同供应商质量差距悬殊——客户体验严重不一致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25880" y="21031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统一评分卡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14400" y="30175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154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催收/客服/营销各1版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分项权重行方定义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所有外包商同一把尺子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月度校准消除评分偏差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0520" y="21031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8328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3749040" y="30175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1"/>
          <p:cNvSpPr/>
          <p:nvPr/>
        </p:nvSpPr>
        <p:spPr>
          <a:xfrm>
            <a:off x="3474720" y="3154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每月1次跨商校准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播放同一段录音各商独立打分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差异超过10分启动校准讨论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统一评分标准理解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26480" y="1920240"/>
            <a:ext cx="2560320" cy="2743200"/>
          </a:xfrm>
          <a:prstGeom prst="rect">
            <a:avLst>
              <a:gd name="adj" fmla="val 285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95160" y="21031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17920" y="26517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质量红黑榜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6583680" y="3017520"/>
            <a:ext cx="16459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5"/>
          <p:cNvSpPr/>
          <p:nvPr/>
        </p:nvSpPr>
        <p:spPr>
          <a:xfrm>
            <a:off x="6309360" y="315468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周度公布各商质量排名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红线违规零容忍即时曝光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连续3周黑榜触发惩罚条款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红榜商可获优先派单奖励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工具：统一质检评分卡（催收版）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催收业务统一质检评分卡（示例）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评分项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0" y="15087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474720" y="15087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评分标准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132320" y="150876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扣分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1737360"/>
            <a:ext cx="78638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身份核验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0" y="18288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0" y="18288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完整核验2项+ | 缺1项-5分 | 未核验0分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21945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话术合规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43200" y="219456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219456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无红线词+ | 出现1次-10分 | 出现2次0分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256032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还款方案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0" y="256032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74720" y="256032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方案合理+ | 方案不实际-10分 | 未提方案-5分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29260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情绪管控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743200" y="292608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29260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平稳+ | 激怒客户-10分 | 与客户争吵0分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32918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信息记录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0" y="329184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74720" y="329184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完整准确+ | 遗漏关键信息-5分 | 未记录0分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0080" y="365760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完结话术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43200" y="365760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15%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474720" y="365760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标准完结+ | 草率挂断-5分 | 未确认0分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5720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6177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课后工具包第4项：催收/客服/营销三版统一评分卡Excel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校准会实操：消除评分偏差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校准会4步法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46304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选录音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63040" y="1920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选择5段典型录音（高/中/低分各2/2/1段）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24028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2402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63040" y="2240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独立打分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63040" y="25146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各商质检员独立打分，不讨论，不看他人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834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46304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对比分析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310896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汇总各商评分，差异&gt;10分的项目重点讨论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429000"/>
            <a:ext cx="64008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34290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Step 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463040" y="34290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63040" y="37033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对争议项达成共识，更新评分细则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校准标准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035040" y="1554480"/>
            <a:ext cx="23774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目标偏差范围：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总分组间偏差 ≤ 5分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单项组间偏差 ≤ 3分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偏差消除策略：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回放争议段逐句讨论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确认评分细则是否清晰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补充灰色地带判定标准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更新手册全员同步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案例分析：催收外包合规投诉激增，监理如何3天止血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案例背景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某银行催收外包项目，一周内合规投诉从月均8件暴增至23件，监管已介入了解情况。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194560"/>
            <a:ext cx="50292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19456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71600" y="21945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紧急止血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45059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全员暂停催收，逐条回放投诉录音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发现3名催收员使用恐吓话术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即时对3人开具红牌退回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发布紧急补充合规通知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50292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74320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71600" y="2743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系统排查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71600" y="29992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对全员近1个月录音AI质检复扫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另发现12通存在灰色话术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对12名人员开具黄牌预警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修订催收话术合规要点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291840"/>
            <a:ext cx="50292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291840"/>
            <a:ext cx="502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Day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71600" y="3291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机制加固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71600" y="354787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新增5个AI质检关键词预警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催收话术考核通过后方可复岗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每日抽检翻倍(5通→10通)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向监管提交整改报告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760720" y="1005840"/>
            <a:ext cx="2926080" cy="3840480"/>
          </a:xfrm>
          <a:prstGeom prst="rect">
            <a:avLst>
              <a:gd name="adj" fmla="val 25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1430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止血效果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035040" y="16459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87%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223760" y="164592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投诉量回落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(23→3件/周)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035040" y="2194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223760" y="2194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监管处罚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(整改报告获认可)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035040" y="274320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98%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7223760" y="274320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话术合规率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(原85%大幅提升)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035040" y="32918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2x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23760" y="32918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质检频次</a:t>
            </a:r>
            <a:endParaRPr lang="en-US" sz="10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(持续双倍抽检)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投诉应急处理SOP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EE2E2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投诉激增应急响应SOP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1645920"/>
            <a:ext cx="73152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459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60020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单件投诉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0" y="16459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4h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回听录音→确认问题→回复客户→记录归档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286000"/>
            <a:ext cx="73152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2860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463040" y="22402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同类投诉≥3件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200400" y="228600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240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暂停相关话术→排查共性原因→制定修正方案→全员通知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2926080"/>
            <a:ext cx="73152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63040" y="28803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投诉激增至月均2倍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0" y="292608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48h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0" y="2880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暂停业务→全面排查→AI复扫→人员处理→整改报告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8229600" cy="548640"/>
          </a:xfrm>
          <a:prstGeom prst="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3566160"/>
            <a:ext cx="73152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566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Level 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463040" y="35204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监管介入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200400" y="356616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114800" y="35204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行方统一应对→监理全力配合整改→修复信任+防复发</a:t>
            </a:r>
            <a:endParaRPr lang="en-US" sz="10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业绩提升监理抓手：从"指标分解"到"过程拆解"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5029200" cy="1828800"/>
          </a:xfrm>
          <a:prstGeom prst="rect">
            <a:avLst>
              <a:gd name="adj" fmla="val 4000"/>
            </a:avLst>
          </a:prstGeom>
          <a:solidFill>
            <a:srgbClr val="E6F0FF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催收示例：通话量 → 承诺还款率 → 实际到账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1463040"/>
            <a:ext cx="4389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传统做法：月度回款目标1000万，直接分配到每人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过程拆解：1000万 = 20000通 x 5%承诺率 x 100%到账率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监理可以影响的：每通电话质量 → 承诺率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而非只盯着最终的到账数字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1005840"/>
            <a:ext cx="2926080" cy="1828800"/>
          </a:xfrm>
          <a:prstGeom prst="rect">
            <a:avLst>
              <a:gd name="adj" fmla="val 4000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0972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营销漏斗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035040" y="146304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外呼量 → 接通率 → 意向率 → 转化率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每层漏斗监理都有抓手：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最佳拨打时段 → 接通率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话术优化 → 意向率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跟进节奏 → 转化率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502920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3152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监理驱动的业绩晨会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359359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昨日数据：人均通话量、接通率、转化率、关键短板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22960" y="3913632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384962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短板归因：是话术问题、时点问题还是心态问题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22960" y="4169664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105656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今日聚焦：针对短板定1个改善动作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22960" y="4425696"/>
            <a:ext cx="109728" cy="109728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4361688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激励动作：即时奖励卡（当日达标即发）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760720" y="3108960"/>
            <a:ext cx="2926080" cy="1645920"/>
          </a:xfrm>
          <a:prstGeom prst="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035040" y="320040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激励杠杆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35040" y="361188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即时奖励卡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当日达标当场发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流动红旗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月度冠军商获优先派单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超180%目标阶梯奖励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监理业绩看板：数据驱动而非催数字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日均通话量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17520" y="10972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__通/人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0" y="10972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CTI系统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583680" y="109728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0" y="10972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55448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459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接通率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1752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≥40%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1645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CTI系统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164592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16459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210312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194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意向率（营销）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1752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≥15%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0" y="21945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CRM标注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583680" y="219456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219456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65176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27432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≥4%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0" y="27432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成交数据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583680" y="274320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0" y="274320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" y="32918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承诺还款率（催收）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01752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≥5%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0" y="32918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还款系统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83680" y="329184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6583680" y="329184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3749040"/>
            <a:ext cx="8229600" cy="457200"/>
          </a:xfrm>
          <a:prstGeom prst="rect">
            <a:avLst>
              <a:gd name="adj" fmla="val 1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1520" y="38404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首次解决率（客服）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017520" y="38404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≥80%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7200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质检+工单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83680" y="3840480"/>
            <a:ext cx="548640" cy="256032"/>
          </a:xfrm>
          <a:prstGeom prst="rect">
            <a:avLst>
              <a:gd name="adj" fmla="val 17857"/>
            </a:avLst>
          </a:prstGeom>
          <a:solidFill>
            <a:srgbClr val="E6F0FF"/>
          </a:solidFill>
          <a:ln/>
        </p:spPr>
      </p:sp>
      <p:sp>
        <p:nvSpPr>
          <p:cNvPr id="39" name="Text 37"/>
          <p:cNvSpPr/>
          <p:nvPr/>
        </p:nvSpPr>
        <p:spPr>
          <a:xfrm>
            <a:off x="6583680" y="384048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438912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41" name="Text 39"/>
          <p:cNvSpPr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看板每日9:00更新，晨会用数据说话——不催数字，只纠过程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案例：某银行客服外包，监理通过话术优化提升满意度5%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问题诊断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某银行信用卡客服外包（2家供应商），客户满意度连续3个月下滑，从92%降至87%。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031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监理3步诊断法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4688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调取低分录音：发现"等待时间过长"和"问题未一次性解决"是两大痛点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718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对比两商处理方式：A商平均通话3.2分钟，B商4.8分钟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34747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分析A商高效客户却满意的原因：主动告知后续步骤+精准转接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改善措施与效果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16459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话术标准化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66560" y="16459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提炼A商优秀话术模板，全商推广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29200" y="214884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0" y="21488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0" y="21488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转接路径优化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21488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常见问题建快速转接表，减少等待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029200" y="265176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6517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0" y="26517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首次解决率考核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766560" y="26517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纳入质检评分，权重从10%提至25%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029200" y="3154680"/>
            <a:ext cx="4572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154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满意度即时反馈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31546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通话后短信评价，监理实时监控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029200" y="3657600"/>
            <a:ext cx="338328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365760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满意度回升至 93%  |  首次解决率提升 18%</a:t>
            </a:r>
            <a:endParaRPr lang="en-US" sz="13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监理层面的激励设计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即时激励体系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45920"/>
            <a:ext cx="10972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459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即时奖励卡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当日达标当场发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延迟效果减半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奶茶券/电影票/调休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423160"/>
            <a:ext cx="10972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231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周度之星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周冠军获"技能王"称号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积分+小奖品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晨会表彰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200400"/>
            <a:ext cx="109728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2004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352044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月度冠军商获流动红旗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优先派单+奖金池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通报外包商总部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EF3C7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阶梯奖励方案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    奖励系数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───────────────────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80-99%         基础奖金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100-119%        1.2x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120-149%        1.5x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150-179%        2.0x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≥180%          2.5x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关键设计原则：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即时性&gt;延迟性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可见性&gt;隐蔽性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过程奖&gt;结果奖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闭环机制：PDCA业绩改进表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188720"/>
            <a:ext cx="731520" cy="7315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 计划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7724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设定周期目标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拆解过程指标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明确改善重点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制定行动方案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0" y="118872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9748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执行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69748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92608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按计划落地动作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每日跟踪关键数据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即时反馈与纠偏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记录执行偏差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349240" y="1188720"/>
            <a:ext cx="731520" cy="7315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20" name="Text 18"/>
          <p:cNvSpPr/>
          <p:nvPr/>
        </p:nvSpPr>
        <p:spPr>
          <a:xfrm>
            <a:off x="534924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84632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 检查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4632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7492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对比目标与实际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识别偏差根因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评估动作有效性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跨商横向对比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1965960" cy="347472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98080" y="1188720"/>
            <a:ext cx="731520" cy="73152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749808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995160" y="21031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 改进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95160" y="2423160"/>
            <a:ext cx="1783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每月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22376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31" name="Text 29"/>
          <p:cNvSpPr/>
          <p:nvPr/>
        </p:nvSpPr>
        <p:spPr>
          <a:xfrm>
            <a:off x="7040880" y="2834640"/>
            <a:ext cx="1691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固化有效做法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修正无效动作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更新下期计划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沉淀为标准流程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663440"/>
            <a:ext cx="8229600" cy="320040"/>
          </a:xfrm>
          <a:prstGeom prst="rect">
            <a:avLst>
              <a:gd name="adj" fmla="val 22857"/>
            </a:avLst>
          </a:prstGeom>
          <a:solidFill>
            <a:srgbClr val="E6F0FF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470916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闭环参与方：监理 + 外包商 + 行方周会  |  课后工具包第5项《PDCA业绩改进表》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PDCA实例：营销转化率从2.1%提升到4.5%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88720"/>
            <a:ext cx="45720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371600" y="120700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目标设定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508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目标：转化率从2.1%提升至4.0%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拆解：外呼量x接通率x意向率x转化率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重点：接通率（时段优化）+意向率（话术优化）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057400"/>
            <a:ext cx="45720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0574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71600" y="2075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执行动作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237744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Week1-2：优化拨打时段（10-11点/14-16点）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Week3-4：新话术模板A/B测试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每日追踪：接通率/意向率数据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926080"/>
            <a:ext cx="45720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926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94436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检查评估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7160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Week2检查：接通率从35%提升至42%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Week4检查：意向率从8%提升至12%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但转化率仅3.2%，未达4.0%目标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3794760"/>
            <a:ext cx="457200" cy="320040"/>
          </a:xfrm>
          <a:prstGeom prst="rect">
            <a:avLst>
              <a:gd name="adj" fmla="val 14286"/>
            </a:avLst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7947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71600" y="381304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改进优化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371600" y="41148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转化率不足根因：跟进节奏不够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新增动作：意向客户24h内二次回访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Week5-8转化率升至4.5%，超过目标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固化：二次回访纳入标准流程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分组演练：针对"营销转化率低"，设计业绩提升周计划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48640"/>
          </a:xfrm>
          <a:prstGeom prst="rect">
            <a:avLst>
              <a:gd name="adj" fmla="val 13333"/>
            </a:avLst>
          </a:prstGeom>
          <a:solidFill>
            <a:srgbClr val="FEF3C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515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背景：某银行营销外包项目，外呼转化率连续3周仅2.1%（目标4.0%），请各组设计一个5天业绩提升周计划。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诊断+动员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调取上周低转化录音Top10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诊断3个核心瓶颈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晨会公布本周目标与奖励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发布改善话术模板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01168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3" name="Text 11"/>
          <p:cNvSpPr/>
          <p:nvPr/>
        </p:nvSpPr>
        <p:spPr>
          <a:xfrm>
            <a:off x="201168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10312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话术强化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0312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全员使用新话术模板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监理跟听每人2通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即时反馈卡到位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晚间复盘调整话术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4904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4904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18" name="Text 16"/>
          <p:cNvSpPr/>
          <p:nvPr/>
        </p:nvSpPr>
        <p:spPr>
          <a:xfrm>
            <a:off x="374904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精准外呼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调整拨打时段(避开低接通)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高意向名单优先外呼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中期数据对比(转化率趋势)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技能PK：最佳话术评选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57784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冲刺加速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激励加码：当日达标双倍积分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跨商经验分享会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重点时段增派人手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实时看板激励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223760" y="1737360"/>
            <a:ext cx="1600200" cy="2926080"/>
          </a:xfrm>
          <a:prstGeom prst="rect">
            <a:avLst>
              <a:gd name="adj" fmla="val 457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23760" y="1737360"/>
            <a:ext cx="1600200" cy="36576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0" y="173736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0" y="2194560"/>
            <a:ext cx="1417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复盘固化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15200" y="2514600"/>
            <a:ext cx="14173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汇总本周转化率数据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对比周一基线评估效果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有效做法固化为标准流程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编入PDCA进入下一循环</a:t>
            </a:r>
            <a:endParaRPr lang="en-US" sz="9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工具：业绩过程拆解与PDCA改进表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PDCA改进表（周度记录模板）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914400" cy="274320"/>
          </a:xfrm>
          <a:prstGeom prst="rect">
            <a:avLst>
              <a:gd name="adj" fmla="val 16667"/>
            </a:avLst>
          </a:prstGeom>
          <a:solidFill>
            <a:srgbClr val="0052D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P(计划)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本周目标：____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关键过程指标：____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改善重点：____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914400" cy="274320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D(执行)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每日动作记录：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周一：____ 周二：____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周三：____ 周四：____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周五：____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108960"/>
            <a:ext cx="914400" cy="274320"/>
          </a:xfrm>
          <a:prstGeom prst="rect">
            <a:avLst>
              <a:gd name="adj" fmla="val 16667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C(检查)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10896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目标达成率：____%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过程指标变化：____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偏差根因：____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886200"/>
            <a:ext cx="914400" cy="274320"/>
          </a:xfrm>
          <a:prstGeom prst="rect">
            <a:avLst>
              <a:gd name="adj" fmla="val 16667"/>
            </a:avLst>
          </a:prstGeom>
          <a:solidFill>
            <a:srgbClr val="EF233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86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A(改进)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886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有效做法：____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修正动作：____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下周计划：____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课后工具包第5项，含自动计算公式和趋势图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工具：外包商监理周报标准模板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监理周报标准模板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31520" y="160020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6002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数据板块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828800" y="155448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各商人力出勤数据  • 质检得分对比  • 业绩达成率  • 投诉量趋势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317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事件板块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28800" y="228600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红黄牌开具记录  • 人员变动（入职/离职/退回）  • 合规事件  • 客户投诉处理情况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06324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63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改善板块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301752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本周改善动作执行情况  • PDCA Cycle进度  • 下周重点改善计划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94760"/>
            <a:ext cx="914400" cy="274320"/>
          </a:xfrm>
          <a:prstGeom prst="rect">
            <a:avLst>
              <a:gd name="adj" fmla="val 16667"/>
            </a:avLst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947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建议板块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828800" y="3749040"/>
            <a:ext cx="6583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合同条款优化建议  • 人力调整建议  • 培训资源需求  • 风险预警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课后工具包第6项：周报Word模板，含标准格式与填表说明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质量与业绩的平衡之道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常见失衡场景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56616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9164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只盯业绩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9202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赶进度→合规下滑→投诉激增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短期达标→长期风险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356616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46888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只盯质量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26974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过度质检→效率下降→目标完不成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外包容忍度低→人员流失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3566160" cy="640080"/>
          </a:xfrm>
          <a:prstGeom prst="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246120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两者割裂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" y="34747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质检和业绩各管各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质检发现问题→不知如何改善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业绩未达标→不知根因在哪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1005840"/>
            <a:ext cx="3931920" cy="3840480"/>
          </a:xfrm>
          <a:prstGeom prst="rect">
            <a:avLst>
              <a:gd name="adj" fmla="val 1905"/>
            </a:avLst>
          </a:prstGeom>
          <a:solidFill>
            <a:srgbClr val="E0F5F3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143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平衡策略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1554480"/>
            <a:ext cx="33832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质量是底线，业绩是目标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底线不可破，目标必须追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过程数据打通质量与业绩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质检发现问题 → 定位过程指标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→ 改善动作 → 业绩也会提升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PDCA是统一框架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质量问题和业绩问题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用同一套PDCA闭环解决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关键信念：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话术质量提升→转化率提升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合规做到位→投诉减少→可专注业绩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质量不是业绩的对立面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问题升级矩阵：什么问题找谁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等级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0" y="1005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范围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0" y="10058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处置方式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0" y="10058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汇报要求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28016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8016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 监理自决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200400" y="13716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日常人力调配/抽检/跟听反馈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212080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监理独立处理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498080" y="137160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日报记录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0312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103120"/>
            <a:ext cx="54864" cy="713232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19456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 外包商主管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00400" y="21945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人员退回/黄牌整改/培训计划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219456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通知外包商+书面确认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498080" y="219456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周报记录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926080"/>
            <a:ext cx="54864" cy="713232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0175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 行方业务主管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0040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人力缺口&gt;20%/合同条款争议/预算追加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080" y="301752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书面申请+面谈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98080" y="301752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专项报告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7490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7490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38404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 行方高层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200400" y="38404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监管介入/重大合规事件/解约决策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3840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紧急报告+建议方案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98080" y="3840480"/>
            <a:ext cx="1188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紧急报告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从"管人"到"建机制"：建立持续改进文化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05840" y="1325880"/>
            <a:ext cx="777240" cy="77724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数据文化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用数据说话，不用感觉做判断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每天看数据，每周比数据，每月追趋势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0604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54680" y="132588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15468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69748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问题文化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292608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问题不是麻烦而是改善机会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每次投诉/违规都是1条改进线索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303520" y="1325880"/>
            <a:ext cx="777240" cy="77724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530352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84632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闭环文化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7492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凡事有开始就要有结束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每个问题都要追踪到改善确认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03720" y="1097280"/>
            <a:ext cx="1965960" cy="32004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452360" y="1325880"/>
            <a:ext cx="777240" cy="77724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7452360" y="1371600"/>
            <a:ext cx="777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995160" y="228600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共创文化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223760" y="2697480"/>
            <a:ext cx="132588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0" y="2834640"/>
            <a:ext cx="16916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方案不是监理一个人出</a:t>
            </a:r>
            <a:endParaRPr lang="en-US" sz="11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外包商、一线员工都要参与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质量管理常见5个误区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质检就是打分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质检是发现问题+推动改善，不是终点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质检只查新人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老员工同样需要定期抽检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多商各自评分即可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70662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必须统一评分卡+月度校准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质量达标就万事大吉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5112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质量达标是底线，不是目标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质检结果不用反馈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当日反馈+即时改善，否则质检白做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业绩管理常见5个误区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09728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只看最终结果数字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0" y="109728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拆解过程指标，监理可影响过程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10512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810512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901952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月度目标月度催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114800" y="1901952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日追踪周复盘，问题不过夜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615184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06624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业绩不好只能加人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14800" y="2706624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先优化过程（话术/时段/策略）再考虑加人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419856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419856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51129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激励就是加钱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0" y="3511296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即时性&gt;金额大小，过程奖&gt;结果奖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4224528"/>
            <a:ext cx="8229600" cy="713232"/>
          </a:xfrm>
          <a:prstGeom prst="rect">
            <a:avLst>
              <a:gd name="adj" fmla="val 102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224528"/>
            <a:ext cx="54864" cy="713232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315968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业绩与质量对立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114800" y="4315968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质量支撑业绩，话术好转化率才高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模块四总结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12801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三道防线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5"/>
          <p:cNvSpPr/>
          <p:nvPr/>
        </p:nvSpPr>
        <p:spPr>
          <a:xfrm>
            <a:off x="59436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AI预警+日抽检+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周度复盘会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4612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69748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297180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3" name="Text 9"/>
          <p:cNvSpPr/>
          <p:nvPr/>
        </p:nvSpPr>
        <p:spPr>
          <a:xfrm>
            <a:off x="274320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评分卡+校准会+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质量红黑榜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84632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12064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Text 13"/>
          <p:cNvSpPr/>
          <p:nvPr/>
        </p:nvSpPr>
        <p:spPr>
          <a:xfrm>
            <a:off x="489204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漏斗式拆解+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日看板+晨会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903720" y="1097280"/>
            <a:ext cx="1965960" cy="2743200"/>
          </a:xfrm>
          <a:prstGeom prst="rect">
            <a:avLst>
              <a:gd name="adj" fmla="val 37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995160" y="1874520"/>
            <a:ext cx="1783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PDCA闭环</a:t>
            </a:r>
            <a:endParaRPr lang="en-US" sz="1500" dirty="0"/>
          </a:p>
        </p:txBody>
      </p:sp>
      <p:sp>
        <p:nvSpPr>
          <p:cNvPr id="20" name="Shape 16"/>
          <p:cNvSpPr/>
          <p:nvPr/>
        </p:nvSpPr>
        <p:spPr>
          <a:xfrm>
            <a:off x="7269480" y="2286000"/>
            <a:ext cx="123444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7"/>
          <p:cNvSpPr/>
          <p:nvPr/>
        </p:nvSpPr>
        <p:spPr>
          <a:xfrm>
            <a:off x="7040880" y="2423160"/>
            <a:ext cx="1691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计划→执行→检查</a:t>
            </a:r>
            <a:endParaRPr lang="en-US" sz="12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→改进循环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57200" y="4114800"/>
            <a:ext cx="8229600" cy="411480"/>
          </a:xfrm>
          <a:prstGeom prst="rect">
            <a:avLst>
              <a:gd name="adj" fmla="val 17778"/>
            </a:avLst>
          </a:prstGeom>
          <a:solidFill>
            <a:srgbClr val="E6F0FF"/>
          </a:solidFill>
          <a:ln/>
        </p:spPr>
      </p:sp>
      <p:sp>
        <p:nvSpPr>
          <p:cNvPr id="23" name="Text 19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课后工具包第4/5/6项：统一评分卡+PDCA改进表+监理周报模板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模块四核心要义与全天课程过渡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32588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4416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325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质量三道防线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83280" y="13258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AI实时预警+监理日抽检+周度复盘会，层层拦截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187452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189280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统一标准是前提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8745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评分卡+校准会+红黑榜，消除多商质量差异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44144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63040" y="24231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过程拆解是方法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83280" y="24231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大目标拆到每日可执行小动作，监理可影响过程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297180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299008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29718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PDCA是闭环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83280" y="29718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每次改善都走Plan→Do→Check→Act，不遗漏不重复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22960" y="3520440"/>
            <a:ext cx="457200" cy="45720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538728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63040" y="352044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质量业绩不矛盾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5204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话术质量提升→转化率提升，守门和驱动是双引擎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4754880"/>
            <a:ext cx="8229600" cy="274320"/>
          </a:xfrm>
          <a:prstGeom prst="rect">
            <a:avLst>
              <a:gd name="adj" fmla="val 26667"/>
            </a:avLst>
          </a:prstGeom>
          <a:solidFill>
            <a:srgbClr val="E6F0FF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00600"/>
            <a:ext cx="78638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四个模块全部完成！接下来进入总结与行动计划环节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课后工具包：6大实战工具一图总览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269748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人力预测表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按单量·季节·节假日智能测算用工需求，30%缺口3分钟出方案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" y="2423160"/>
            <a:ext cx="731520" cy="256032"/>
          </a:xfrm>
          <a:prstGeom prst="rect">
            <a:avLst>
              <a:gd name="adj" fmla="val 17857"/>
            </a:avLst>
          </a:prstGeom>
          <a:solidFill>
            <a:srgbClr val="0052D9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37560" y="1005840"/>
            <a:ext cx="26974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SAB分层卡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一线坐席3层能力画像+90天进阶路径，精准识别赋能点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0" y="2423160"/>
            <a:ext cx="731520" cy="256032"/>
          </a:xfrm>
          <a:prstGeom prst="rect">
            <a:avLst>
              <a:gd name="adj" fmla="val 17857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工具2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1005840"/>
            <a:ext cx="2697480" cy="54864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1887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质检三防线清单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160020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实时监听→日审→周复盘全链路质控清单，0漏检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2423160"/>
            <a:ext cx="731520" cy="256032"/>
          </a:xfrm>
          <a:prstGeom prst="rect">
            <a:avLst>
              <a:gd name="adj" fmla="val 17857"/>
            </a:avLst>
          </a:prstGeom>
          <a:solidFill>
            <a:srgbClr val="D4AF37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42316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工具3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EF233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971800"/>
            <a:ext cx="2697480" cy="54864"/>
          </a:xfrm>
          <a:prstGeom prst="rect">
            <a:avLst/>
          </a:prstGeom>
          <a:solidFill>
            <a:srgbClr val="EF233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红黄卡流程图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违规/不达标一卡触发整改，7天闭环跟踪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4389120"/>
            <a:ext cx="731520" cy="256032"/>
          </a:xfrm>
          <a:prstGeom prst="rect">
            <a:avLst>
              <a:gd name="adj" fmla="val 17857"/>
            </a:avLst>
          </a:prstGeom>
          <a:solidFill>
            <a:srgbClr val="EF233C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337560" y="2971800"/>
            <a:ext cx="2697480" cy="54864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30" name="Text 28"/>
          <p:cNvSpPr/>
          <p:nvPr/>
        </p:nvSpPr>
        <p:spPr>
          <a:xfrm>
            <a:off x="347472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业绩漏斗拆解表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47472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目标→过程指标逐层拆解，监控每层转化率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0" y="4389120"/>
            <a:ext cx="731520" cy="256032"/>
          </a:xfrm>
          <a:prstGeom prst="rect">
            <a:avLst>
              <a:gd name="adj" fmla="val 17857"/>
            </a:avLst>
          </a:prstGeom>
          <a:solidFill>
            <a:srgbClr val="F97316"/>
          </a:solidFill>
          <a:ln/>
        </p:spPr>
      </p:sp>
      <p:sp>
        <p:nvSpPr>
          <p:cNvPr id="33" name="Text 31"/>
          <p:cNvSpPr/>
          <p:nvPr/>
        </p:nvSpPr>
        <p:spPr>
          <a:xfrm>
            <a:off x="347472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2971800"/>
            <a:ext cx="269748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6" name="Text 34"/>
          <p:cNvSpPr/>
          <p:nvPr/>
        </p:nvSpPr>
        <p:spPr>
          <a:xfrm>
            <a:off x="6355080" y="31546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PDCA周报模板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355080" y="3566160"/>
            <a:ext cx="2377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Plan-Do-Check-Act四格周报，驱动持续改善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4389120"/>
            <a:ext cx="731520" cy="256032"/>
          </a:xfrm>
          <a:prstGeom prst="rect">
            <a:avLst>
              <a:gd name="adj" fmla="val 17857"/>
            </a:avLst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355080" y="438912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工具6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课程六大特色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🎯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4300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实战导向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全部案例来自银行业外包现场，非理论推演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3756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9" name="Text 7"/>
          <p:cNvSpPr/>
          <p:nvPr/>
        </p:nvSpPr>
        <p:spPr>
          <a:xfrm>
            <a:off x="352044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🔧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02336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工具驱动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2044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6大可落地工具，回岗位即用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100584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903720" y="1188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数据说话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69164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30%缺口·承诺率·满意度+5%，用数据验证方法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三方平衡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银行·外包·员工三方利益统一而非零和博弈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33756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352044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402336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闭环管理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52044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人-单-质-绩四维循环，不留管理盲区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971800"/>
            <a:ext cx="2697480" cy="1783080"/>
          </a:xfrm>
          <a:prstGeom prst="rect">
            <a:avLst>
              <a:gd name="adj" fmla="val 4103"/>
            </a:avLst>
          </a:prstGeom>
          <a:solidFill>
            <a:srgbClr val="F8FAFC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⚡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9037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即时演练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3657600"/>
            <a:ext cx="2331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每模块配套情景演练，课堂即实战场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四维监理知识全景图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383280" y="1737360"/>
            <a:ext cx="2377440" cy="137160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5" name="Text 3"/>
          <p:cNvSpPr/>
          <p:nvPr/>
        </p:nvSpPr>
        <p:spPr>
          <a:xfrm>
            <a:off x="3383280" y="1828800"/>
            <a:ext cx="2377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人-单-质-绩</a:t>
            </a:r>
            <a:endParaRPr lang="en-US" sz="1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四维循环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" y="731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31520"/>
            <a:ext cx="73152" cy="182880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822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人·定位重塑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角色三重演进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三方平衡术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1837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自我诊断表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39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选商评分卡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0" y="731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731520"/>
            <a:ext cx="73152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5212080" y="822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单·人单匹配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257800" y="1234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人力预测公式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57800" y="1536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30%缺口预案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57800" y="1837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灵活用工SOP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57800" y="2139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交接协议模板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017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017520"/>
            <a:ext cx="73152" cy="18288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质·技能提升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S/A/B分层赋能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3轴强化法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123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红黄卡闭环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4425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知识库搭建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029200" y="3017520"/>
            <a:ext cx="3657600" cy="1828800"/>
          </a:xfrm>
          <a:prstGeom prst="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0" y="3017520"/>
            <a:ext cx="73152" cy="182880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29" name="Text 27"/>
          <p:cNvSpPr/>
          <p:nvPr/>
        </p:nvSpPr>
        <p:spPr>
          <a:xfrm>
            <a:off x="5212080" y="3108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绩·质效双驱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257800" y="35204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质检3防线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业绩漏斗拆解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4123944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PDCA周报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57800" y="4425696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持续改善文化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30天监理行动卡：从此刻开始改变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3840480"/>
          </a:xfrm>
          <a:prstGeom prst="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82296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我的30天监理行动承诺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731520" y="1737360"/>
            <a:ext cx="822960" cy="320040"/>
          </a:xfrm>
          <a:prstGeom prst="rect">
            <a:avLst>
              <a:gd name="adj" fmla="val 14286"/>
            </a:avLst>
          </a:prstGeom>
          <a:solidFill>
            <a:srgbClr val="0052D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73736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91640" y="1737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定方向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0" y="173736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完成自我诊断表 → 明确最需改善的2个维度 → 制定周计划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14884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2" name="Shape 10"/>
          <p:cNvSpPr/>
          <p:nvPr/>
        </p:nvSpPr>
        <p:spPr>
          <a:xfrm>
            <a:off x="731520" y="2468880"/>
            <a:ext cx="822960" cy="320040"/>
          </a:xfrm>
          <a:prstGeom prst="rect">
            <a:avLst>
              <a:gd name="adj" fmla="val 14286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46888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抓工具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0" y="24688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启用人力预测表/质检清单 → 每天记录1个监理发现 → 周五复盘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88036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731520" y="3200400"/>
            <a:ext cx="822960" cy="320040"/>
          </a:xfrm>
          <a:prstGeom prst="rect">
            <a:avLst>
              <a:gd name="adj" fmla="val 14286"/>
            </a:avLst>
          </a:prstGeom>
          <a:solidFill>
            <a:srgbClr val="D4AF3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00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91640" y="32004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练技能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743200" y="320040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推行晨会微案例/跟听反馈卡 → 识别S/A/B各3人 → 针对赋能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61188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3931920"/>
            <a:ext cx="822960" cy="320040"/>
          </a:xfrm>
          <a:prstGeom prst="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93192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691640" y="393192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验成效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43200" y="393192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对比前后数据 → 填写PDCA周报 → 固化有效做法为SOP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343400"/>
            <a:ext cx="768096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7" name="Shape 25"/>
          <p:cNvSpPr/>
          <p:nvPr/>
        </p:nvSpPr>
        <p:spPr>
          <a:xfrm>
            <a:off x="731520" y="4572000"/>
            <a:ext cx="7680960" cy="36576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请在课后填写行动卡，拍照留存，30天后对照验证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互动问答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474720" y="1371600"/>
            <a:ext cx="2194560" cy="146304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0" y="1463040"/>
            <a:ext cx="21945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914400" y="31272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3108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当前你的团队最大的监理痛点是什么？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14400" y="35844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3566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哪个工具你觉得最有立即落地的价值？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" y="40416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40233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三方平衡中，你最难处理的是哪一方？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49884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44805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红色卡/黄色卡执行中最大的阻力是什么？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14400" y="4663440"/>
            <a:ext cx="7315200" cy="320040"/>
          </a:xfrm>
          <a:prstGeom prst="rect">
            <a:avLst>
              <a:gd name="adj" fmla="val 22857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709160"/>
            <a:ext cx="6949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没有"傻问题"——此刻的困惑，就是回去后最大的坑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课程满意度反馈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2926080"/>
          </a:xfrm>
          <a:prstGeom prst="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请为今天课程打分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课程内容实用性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59436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858000" y="178308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0" y="178308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2240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案例与工具可操作性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436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3" name="Text 21"/>
          <p:cNvSpPr/>
          <p:nvPr/>
        </p:nvSpPr>
        <p:spPr>
          <a:xfrm>
            <a:off x="59436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28600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0" y="22860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2743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讲师授课清晰度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0292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9436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858000" y="278892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0" y="27889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315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课堂互动与演练质量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50292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1" name="Text 39"/>
          <p:cNvSpPr/>
          <p:nvPr/>
        </p:nvSpPr>
        <p:spPr>
          <a:xfrm>
            <a:off x="50292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54864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3" name="Text 41"/>
          <p:cNvSpPr/>
          <p:nvPr/>
        </p:nvSpPr>
        <p:spPr>
          <a:xfrm>
            <a:off x="54864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36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008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7" name="Text 45"/>
          <p:cNvSpPr/>
          <p:nvPr/>
        </p:nvSpPr>
        <p:spPr>
          <a:xfrm>
            <a:off x="64008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858000" y="329184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49" name="Text 47"/>
          <p:cNvSpPr/>
          <p:nvPr/>
        </p:nvSpPr>
        <p:spPr>
          <a:xfrm>
            <a:off x="6858000" y="32918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3152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5. 对未来工作的帮助程度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50292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4864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4" name="Text 52"/>
          <p:cNvSpPr/>
          <p:nvPr/>
        </p:nvSpPr>
        <p:spPr>
          <a:xfrm>
            <a:off x="54864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6" name="Text 54"/>
          <p:cNvSpPr/>
          <p:nvPr/>
        </p:nvSpPr>
        <p:spPr>
          <a:xfrm>
            <a:off x="59436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4008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58" name="Text 56"/>
          <p:cNvSpPr/>
          <p:nvPr/>
        </p:nvSpPr>
        <p:spPr>
          <a:xfrm>
            <a:off x="64008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858000" y="3794760"/>
            <a:ext cx="274320" cy="274320"/>
          </a:xfrm>
          <a:prstGeom prst="ellipse">
            <a:avLst/>
          </a:prstGeom>
          <a:solidFill>
            <a:srgbClr val="E6F0FF"/>
          </a:solidFill>
          <a:ln/>
        </p:spPr>
      </p:sp>
      <p:sp>
        <p:nvSpPr>
          <p:cNvPr id="60" name="Text 58"/>
          <p:cNvSpPr/>
          <p:nvPr/>
        </p:nvSpPr>
        <p:spPr>
          <a:xfrm>
            <a:off x="685800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31520" y="4023360"/>
            <a:ext cx="7680960" cy="320040"/>
          </a:xfrm>
          <a:prstGeom prst="rect">
            <a:avLst>
              <a:gd name="adj" fmla="val 22857"/>
            </a:avLst>
          </a:prstGeom>
          <a:solidFill>
            <a:srgbClr val="E0F5F3"/>
          </a:solidFill>
          <a:ln/>
        </p:spPr>
      </p:sp>
      <p:sp>
        <p:nvSpPr>
          <p:cNvPr id="62" name="Text 60"/>
          <p:cNvSpPr/>
          <p:nvPr/>
        </p:nvSpPr>
        <p:spPr>
          <a:xfrm>
            <a:off x="914400" y="406908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欢迎扫码填写在线问卷，您的反馈将帮助课程持续迭代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监理人的5条关键提醒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685800"/>
          </a:xfrm>
          <a:prstGeom prst="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51560"/>
            <a:ext cx="411480" cy="41148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0515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960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先诊断后开方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26187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别急于改——先用数据说准问题在哪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691640"/>
            <a:ext cx="822960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828800"/>
            <a:ext cx="411480" cy="4114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8288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34440" y="1737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工具不是目的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34440" y="203911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工具是为了统一语言和减少遗漏，不是填表交差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468880"/>
            <a:ext cx="8229600" cy="685800"/>
          </a:xfrm>
          <a:prstGeom prst="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606040"/>
            <a:ext cx="411480" cy="41148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06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251460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三方共赢才是赢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34440" y="281635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压榨外包公司=压垮自己的业务，找到平衡点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246120"/>
            <a:ext cx="8229600" cy="685800"/>
          </a:xfrm>
          <a:prstGeom prst="rect">
            <a:avLst>
              <a:gd name="adj" fmla="val 10667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383280"/>
            <a:ext cx="411480" cy="4114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3832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34440" y="3291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过程比结果更重要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234440" y="359359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盯数字不如盯过程——过程拆解才有抓手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685800"/>
          </a:xfrm>
          <a:prstGeom prst="rect">
            <a:avLst>
              <a:gd name="adj" fmla="val 10667"/>
            </a:avLst>
          </a:prstGeom>
          <a:solidFill>
            <a:srgbClr val="F8FAFC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EF233C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160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234440" y="4069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F23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小步快跑持续改善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34440" y="4370832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PDCA每周转一次，30天就是4个改善周期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延伸学习与推荐资源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外部资源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34747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《外包管理实战手册》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涵盖供应商选择、绩效管理、风险控制全流程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《呼叫中心运营管理》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人员排班、质检设计、客户满意度提升方法论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《PDCA管理循环》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丰田式持续改善的底层逻辑与落地步骤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914400"/>
            <a:ext cx="3931920" cy="3200400"/>
          </a:xfrm>
          <a:prstGeom prst="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0058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行内资源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937760" y="1417320"/>
            <a:ext cx="347472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5544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行内外包管理制度汇编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82880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本行最新外包管理规范与红头文件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331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银保监会外包指引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6060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监管层面对外包业务的核心要求与红线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108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8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行业标杆案例库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83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同业外包监理优秀实践与最佳做法</a:t>
            </a:r>
            <a:endParaRPr lang="en-US" sz="11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讲师联系方式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0" y="1097280"/>
            <a:ext cx="5486400" cy="2743200"/>
          </a:xfrm>
          <a:prstGeom prst="rect">
            <a:avLst>
              <a:gd name="adj" fmla="val 2667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0" y="1097280"/>
            <a:ext cx="5486400" cy="54864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37160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于兆鹏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228600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AI与数字化转型培训咨询师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286000" y="2468880"/>
            <a:ext cx="4572000" cy="27432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2286000" y="26517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专注领域：金融行业AI应用 · 数字化转型 · 外包管理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28600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欢迎课后持续交流实战问题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286000" y="3566160"/>
            <a:ext cx="4572000" cy="36576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12" name="Text 10"/>
          <p:cNvSpPr/>
          <p:nvPr/>
        </p:nvSpPr>
        <p:spPr>
          <a:xfrm>
            <a:off x="2468880" y="36118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可添加微信进一步沟通课程落地事宜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1371600" y="4572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6400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监理不是监工，</a:t>
            </a:r>
            <a:endParaRPr lang="en-US" sz="2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而是让每一个人都能把活干好的推手。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371600" y="3474720"/>
            <a:ext cx="22860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36576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 与每一位外包现场监理人共勉</a:t>
            </a:r>
            <a:endParaRPr lang="en-US" sz="16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52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全课总结：四维监理，闭环致胜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0052D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097280"/>
            <a:ext cx="502920" cy="502920"/>
          </a:xfrm>
          <a:prstGeom prst="ellipse">
            <a:avLst/>
          </a:prstGeom>
          <a:solidFill>
            <a:srgbClr val="0052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005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定位重塑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从"监工"到"赋能教练"，三方平衡才是真管理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1031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46304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人单匹配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237744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用数据预测+灵活用工，30%缺口也能稳住阵脚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108960"/>
            <a:ext cx="502920" cy="502920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1089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46304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4AF3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技能提升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38328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S/A/B分层赋能+3轴强化+红黄卡闭环，能力一阶阶上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8229600" cy="868680"/>
          </a:xfrm>
          <a:prstGeom prst="rect">
            <a:avLst>
              <a:gd name="adj" fmla="val 8421"/>
            </a:avLst>
          </a:prstGeom>
          <a:solidFill>
            <a:srgbClr val="F8FAFC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114800"/>
            <a:ext cx="502920" cy="50292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绩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46304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731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质效双驱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43891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3防线保底+漏斗拆解抓过程+PDCA持续改善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72000"/>
            <a:ext cx="8229600" cy="365760"/>
          </a:xfrm>
          <a:prstGeom prst="rect">
            <a:avLst>
              <a:gd name="adj" fmla="val 20000"/>
            </a:avLst>
          </a:prstGeom>
          <a:solidFill>
            <a:srgbClr val="E6F0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人·单·质·绩四维循环驱动 → 监理效能持续提升 → 业务价值最大化</a:t>
            </a:r>
            <a:endParaRPr lang="en-US" sz="12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0052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2004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BDD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感谢聆听 · 共同成长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39319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AA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集中化外包业务现场监理效能提升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688A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于兆鹏</a:t>
            </a:r>
            <a:endParaRPr lang="en-US" sz="1400" dirty="0"/>
          </a:p>
        </p:txBody>
      </p:sp>
      <p:sp>
        <p:nvSpPr>
          <p:cNvPr id="9999" name="TeleWaxWatermark"/>
          <p:cNvSpPr txBox="1"/>
          <p:nvPr/>
        </p:nvSpPr>
        <p:spPr>
          <a:xfrm>
            <a:off x="6675120" y="4343400"/>
            <a:ext cx="2194560" cy="617220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lIns="0" tIns="0" rIns="0" bIns="0"/>
          <a:lstStyle/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AI生成</a:t>
            </a:r>
            <a:endParaRPr lang="zh-CN" sz="1500">
              <a:latin typeface="Noto Serif SC"/>
              <a:ea typeface="Noto Serif SC"/>
              <a:cs typeface="Noto Serif SC"/>
            </a:endParaRPr>
          </a:p>
          <a:p>
            <a:pPr algn="r"/>
            <a:r>
              <a:rPr lang="zh-CN" sz="1500" b="0">
                <a:solidFill>
                  <a:srgbClr val="808080"/>
                </a:solidFill>
                <a:latin typeface="Noto Serif SC"/>
                <a:ea typeface="Noto Serif SC"/>
                <a:cs typeface="Noto Serif SC"/>
              </a:rPr>
              <a:t>生成时间: 2026-06-24</a:t>
            </a:r>
            <a:endParaRPr lang="zh-CN" sz="1500">
              <a:latin typeface="Noto Serif SC"/>
              <a:ea typeface="Noto Serif SC"/>
              <a:cs typeface="Noto Serif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131</Slides>
  <Notes>131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131</vt:i4>
      </vt:variant>
    </vt:vector>
  </HeadingPairs>
  <TitlesOfParts>
    <vt:vector size="1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集中化外包业务现场监理效能提升</dc:title>
  <dc:subject>PptxGenJS Presentation</dc:subject>
  <dc:creator>于兆鹏</dc:creator>
  <cp:lastModifiedBy>于兆鹏</cp:lastModifiedBy>
  <cp:revision>1</cp:revision>
  <dcterms:created xsi:type="dcterms:W3CDTF">2026-06-24T15:11:01Z</dcterms:created>
  <dcterms:modified xsi:type="dcterms:W3CDTF">2026-06-24T15:11:01Z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D55U9H0F10002","ProduceID":"5f7fb9cc-57e5-4370-b03f-34af699329a7","ReservedCode1":"9cd198fc-c22a-4f3b-b447-29771e5e4a60","ContentPropagator":"001191110102MAD55U9H0F10002","PropagateID":"5f7fb9cc-57e5-4370-b03f-34af699329a7","ReservedCode2":"9cd198fc-c22a-4f3b-b447-29771e5e4a60"}</vt:lpwstr>
  </property>
</Properties>
</file>