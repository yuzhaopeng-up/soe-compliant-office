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029200" y="2011680"/>
            <a:ext cx="21305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AI赋能下的银行产品经理能力进阶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0" y="4297680"/>
            <a:ext cx="21305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303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1天工作坊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课程纲要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1783080"/>
            <a:ext cx="36576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1645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2194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商业模式概览 · 创意发现与筛选 · 商业论证与上市策略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286000" y="3977640"/>
            <a:ext cx="36576" cy="8229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38404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金融客户洞察与精益产品需求分析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43891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 · 用户洞察与场景分析 · 精益需求管理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0" y="4206240"/>
            <a:ext cx="2130552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商业模式概览 · 创意发现与筛选 · 商业论证与上市策略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商业银行产品商业模式概述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383280" cy="438912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结构化开发过程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明确定义新产品开发各阶段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关口管理与阶段性评审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各阶段管理角色与职责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3383280" cy="438912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46304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商业模式框架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从模糊前端到客户之声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价值主张设计核心要素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需求洞察的系统方法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383280" cy="438912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 w="6350">
            <a:solidFill>
              <a:srgbClr val="E7E6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46304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17373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金融产品特征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监管合规与风险控制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产品服务一体化设计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客户生命周期价值管理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金融产品商业模式类型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利差模式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存贷利差为核心收入来源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传统信贷业务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6616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费用模式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手续费与佣金为主要收入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4904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支付结算/托管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平台模式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连接多边用户收取服务费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开放银行平台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8320" y="2286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数据资产变现与智能服务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18320" y="29260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风控数据服务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572000"/>
            <a:ext cx="10725912" cy="1371600"/>
          </a:xfrm>
          <a:prstGeom prst="rect">
            <a:avLst>
              <a:gd name="adj" fmla="val 5333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趋势：从单一利差模式向多元商业模式转型，数据与平台模式增速最快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394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银行产品经理需理解每种模式的盈利逻辑、增长驱动与风险特征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新产品开发过程：关口管理与阶段划分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2011680" cy="2011680"/>
          </a:xfrm>
          <a:prstGeom prst="rect">
            <a:avLst>
              <a:gd name="adj" fmla="val 4545"/>
            </a:avLst>
          </a:prstGeom>
          <a:solidFill>
            <a:srgbClr val="5B9BD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创意产生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机会识别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34640" y="1463040"/>
            <a:ext cx="2011680" cy="2011680"/>
          </a:xfrm>
          <a:prstGeom prst="rect">
            <a:avLst>
              <a:gd name="adj" fmla="val 4545"/>
            </a:avLst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概念测试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2011680" cy="2011680"/>
          </a:xfrm>
          <a:prstGeom prst="rect">
            <a:avLst>
              <a:gd name="adj" fmla="val 4545"/>
            </a:avLst>
          </a:prstGeom>
          <a:solidFill>
            <a:srgbClr val="44546A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0352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产品设计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原型验证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06640" y="1463040"/>
            <a:ext cx="2011680" cy="2011680"/>
          </a:xfrm>
          <a:prstGeom prst="rect">
            <a:avLst>
              <a:gd name="adj" fmla="val 4545"/>
            </a:avLst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市场投放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效果评估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4183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92640" y="1463040"/>
            <a:ext cx="2011680" cy="2011680"/>
          </a:xfrm>
          <a:prstGeom prst="rect">
            <a:avLst>
              <a:gd name="adj" fmla="val 4545"/>
            </a:avLst>
          </a:prstGeom>
          <a:solidFill>
            <a:srgbClr val="ED7D31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0" y="22860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持续优化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产品退市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关键管理角色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1520" y="4480560"/>
            <a:ext cx="33832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发起人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05840" y="5074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决策关口通过/否决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80560" y="4480560"/>
            <a:ext cx="33832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754880" y="5074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全程驱动与协调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0" y="4480560"/>
            <a:ext cx="33832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评审委员会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503920" y="5074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阶段质量把关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关口管理实践要点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1005840"/>
          </a:xfrm>
          <a:prstGeom prst="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关口1：创意评审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评审标准：战略一致性+市场潜力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通过/搁置/淘汰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725912" cy="1005840"/>
          </a:xfrm>
          <a:prstGeom prst="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06040"/>
            <a:ext cx="54864" cy="10058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关口2：可行性评审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评审标准：技术可行性+资源可获性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通过/调整/退回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0725912" cy="1005840"/>
          </a:xfrm>
          <a:prstGeom prst="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840480"/>
            <a:ext cx="54864" cy="100584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31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关口3：商业论证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评审标准：ROI+风险可控性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0233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批准投资/需补充/否决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10725912" cy="1005840"/>
          </a:xfrm>
          <a:prstGeom prst="rect">
            <a:avLst>
              <a:gd name="adj" fmla="val 5455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74920"/>
            <a:ext cx="54864" cy="10058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166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关口4：上市评审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577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评审标准：产品就绪度+市场准备度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5257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准予上市/延期/终止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关键：关口不是障碍，而是质量保障；不是形式审查，而是决策机制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029200" cy="1280160"/>
          </a:xfrm>
          <a:prstGeom prst="rect">
            <a:avLst>
              <a:gd name="adj" fmla="val 5714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12801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5087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2011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挖掘隐性需求与市场机会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5029200" cy="1280160"/>
          </a:xfrm>
          <a:prstGeom prst="rect">
            <a:avLst>
              <a:gd name="adj" fmla="val 5714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926080"/>
            <a:ext cx="73152" cy="12801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63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客户之声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566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系统化收集与解读客户反馈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5029200" cy="1280160"/>
          </a:xfrm>
          <a:prstGeom prst="rect">
            <a:avLst>
              <a:gd name="adj" fmla="val 5714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480560"/>
            <a:ext cx="73152" cy="12801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617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竞争洞察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120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行业格局与差异化定位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价值主张设计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377440" cy="1097280"/>
          </a:xfrm>
          <a:prstGeom prst="rect">
            <a:avLst>
              <a:gd name="adj" fmla="val 5000"/>
            </a:avLst>
          </a:prstGeom>
          <a:solidFill>
            <a:srgbClr val="FFF3E0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客户Jobs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客户要完成的核心任务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869680" y="2011680"/>
            <a:ext cx="2377440" cy="1097280"/>
          </a:xfrm>
          <a:prstGeom prst="rect">
            <a:avLst>
              <a:gd name="adj" fmla="val 5000"/>
            </a:avLst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客户Pains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006840" y="25146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任务执行中的痛点阻碍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383280"/>
            <a:ext cx="2377440" cy="1097280"/>
          </a:xfrm>
          <a:prstGeom prst="rect">
            <a:avLst>
              <a:gd name="adj" fmla="val 5000"/>
            </a:avLst>
          </a:prstGeom>
          <a:solidFill>
            <a:srgbClr val="FFF3E0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客户Gains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客户期望获得的收益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869680" y="3383280"/>
            <a:ext cx="2377440" cy="1097280"/>
          </a:xfrm>
          <a:prstGeom prst="rect">
            <a:avLst>
              <a:gd name="adj" fmla="val 5000"/>
            </a:avLst>
          </a:prstGeom>
          <a:solidFill>
            <a:srgbClr val="E8F0FE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产品Gain Creators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06840" y="3886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如何为客户创造价值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754880"/>
            <a:ext cx="2377440" cy="1097280"/>
          </a:xfrm>
          <a:prstGeom prst="rect">
            <a:avLst>
              <a:gd name="adj" fmla="val 5000"/>
            </a:avLst>
          </a:prstGeom>
          <a:solidFill>
            <a:srgbClr val="E8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846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产品Pain Relievers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55080" y="5257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如何缓解客户痛点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869680" y="4754880"/>
            <a:ext cx="2377440" cy="1097280"/>
          </a:xfrm>
          <a:prstGeom prst="rect">
            <a:avLst>
              <a:gd name="adj" fmla="val 5000"/>
            </a:avLst>
          </a:prstGeom>
          <a:solidFill>
            <a:srgbClr val="E8F0FE"/>
          </a:solidFill>
          <a:ln/>
        </p:spPr>
      </p:sp>
      <p:sp>
        <p:nvSpPr>
          <p:cNvPr id="34" name="Text 32"/>
          <p:cNvSpPr/>
          <p:nvPr/>
        </p:nvSpPr>
        <p:spPr>
          <a:xfrm>
            <a:off x="9006840" y="4846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产品Services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06840" y="5257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提供的产品与服务清单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从需求洞察到价值主张设计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22860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需求洞察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通过VOC与市场研究识别客户真实需求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需求清单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2560320" cy="22860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74904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需求翻译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将客户语言转化为产品语言与功能描述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功能列表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560320" cy="22860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价值匹配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8368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分析产品能力如何匹配客户痛点与收益期望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价值映射图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1371600"/>
            <a:ext cx="2560320" cy="22860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41832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主张提炼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18320" y="26517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凝练核心价值主张，形成差异化竞争定位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41832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价值主张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114800"/>
            <a:ext cx="10725912" cy="2011680"/>
          </a:xfrm>
          <a:prstGeom prst="rect">
            <a:avLst>
              <a:gd name="adj" fmla="val 3636"/>
            </a:avLst>
          </a:prstGeom>
          <a:solidFill>
            <a:srgbClr val="FFF8F0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0160" y="4846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不要问客户想要什么，要理解客户为什么需要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53035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价值主张必须可量化、可验证、可传播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80160" y="5760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差异化不是功能堆砌，而是对特定客群痛点的精准解决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AI赋能：DeepSeek行业数据智能分析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57200"/>
          </a:xfrm>
          <a:prstGeom prst="rect">
            <a:avLst>
              <a:gd name="adj" fmla="val 12000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输入行业关键词，自动抓取并分析市场趋势数据，生成结构化报告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竞品情报监控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监控竞品产品动态、定价策略与市场表现，输出竞品对比图谱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商业模式画布生成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基于行业数据自动填充商业模式画布九大模块，辅助决策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客户行为预测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结合历史数据预测客户行为变化，识别新商业机会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案例：某城商行客户行为特征分析体系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011680" cy="411480"/>
          </a:xfrm>
          <a:prstGeom prst="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0725912" cy="3840480"/>
          </a:xfrm>
          <a:prstGeom prst="rect">
            <a:avLst>
              <a:gd name="adj" fmla="val 2381"/>
            </a:avLst>
          </a:prstGeom>
          <a:solidFill>
            <a:srgbClr val="FFF8F0"/>
          </a:solidFill>
          <a:ln/>
        </p:spPr>
      </p:sp>
      <p:sp>
        <p:nvSpPr>
          <p:cNvPr id="8" name="Shape 6"/>
          <p:cNvSpPr/>
          <p:nvPr/>
        </p:nvSpPr>
        <p:spPr>
          <a:xfrm>
            <a:off x="1737360" y="2468880"/>
            <a:ext cx="640080" cy="6400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整合交易流水、APP行为、客服记录等多源数据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640080" cy="6400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构建RFM模型+行为偏好+生命周期三维特征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2468880"/>
            <a:ext cx="640080" cy="6400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K-Means分群，识别6类典型客户行为模式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18320" y="2468880"/>
            <a:ext cx="640080" cy="64008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78240" y="32918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策略匹配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8240" y="3749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每类客户匹配差异化产品推荐与服务策略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成果：客户转化率提升23%，产品匹配准确率提高至78%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产品创意发现：模糊前端与客户之声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模糊前端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识别市场空白与潜在机会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利用次级研究快速扫描行业动态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通过主要研究深入挖掘客户需求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将模糊想法转化为可测试假设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客户之声（VOC）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深度访谈：一对一挖掘隐性需求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514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焦点小组：群体互动激发洞察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017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ethnography观察：真实场景记录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社交聆听：线上口碑与情感分析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10725912" cy="18288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3891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研究方法组合策略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846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次级研究（低成本广覆盖）→ 主要研究（高成本深洞察）→ 验证研究（定量确认）→ 迭代优化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关键原则：先广后深，先定性后定量，持续验证修正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创意发现方法详解：次级与主要研究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次级市场研究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行业报告：把握宏观趋势与竞争格局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监管政策：预判合规要求与市场准入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学术论文：前沿方法与理论支撑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公开数据：市场规模与增长预测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主要市场研究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深度访谈：1对1挖掘隐性需求与动机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606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焦点小组：群体讨论激发创意碰撞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2004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问卷调查：定量验证与规模测算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794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实地观察：在真实场景中捕捉行为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10725912" cy="1371600"/>
          </a:xfrm>
          <a:prstGeom prst="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463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研究流程：次级研究（快扫描）→ 主要研究（深挖掘）→ 验证研究（定量化）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530352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金融产品特殊考量：研究设计需兼顾监管合规性，客户数据使用需严格遵守隐私法规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创意筛选与组合管理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创意筛选评审条件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54880" cy="50292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011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战略一致性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011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754880" cy="50292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6517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市场吸引力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651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4754880" cy="50292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291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291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931920"/>
            <a:ext cx="4754880" cy="50292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资源可获得性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931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4754880" cy="50292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572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风险可控性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4572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组合管理三要素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17920" y="2011680"/>
            <a:ext cx="5239512" cy="109728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合理配置人财物资源，确保重点项目优先获得投入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383280"/>
            <a:ext cx="5239512" cy="109728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战略一致性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8368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产品组合与银行整体战略方向保持同步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754880"/>
            <a:ext cx="5239512" cy="109728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组合平衡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短期收益与长期布局、高风险与低风险项目均衡搭配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阶段1：创意提取 — 从大量想法中筛选高潜力创意进入下一阶段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创意筛选评分表示例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146304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371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146304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371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1371600"/>
            <a:ext cx="146304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3716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95360" y="1371600"/>
            <a:ext cx="246888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0" y="1371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1920240"/>
            <a:ext cx="10725912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战略一致性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920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1920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1920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19202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" y="2468880"/>
            <a:ext cx="1072591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468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市场吸引力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24688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0" y="24688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017520"/>
            <a:ext cx="10725912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0175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30352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30175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3017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3566160"/>
            <a:ext cx="1072591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566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资源可获得性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0" y="3566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566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3566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595360" y="35661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31520" y="4114800"/>
            <a:ext cx="10725912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风险可控性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0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1148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595360" y="4114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31520" y="4754880"/>
            <a:ext cx="10725912" cy="548640"/>
          </a:xfrm>
          <a:prstGeom prst="rect">
            <a:avLst>
              <a:gd name="adj" fmla="val 10000"/>
            </a:avLst>
          </a:prstGeom>
          <a:solidFill>
            <a:srgbClr val="E8F0FE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加权总分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0" y="4754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49440" y="4754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6.2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95360" y="47548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1520" y="56692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评分规则：1-10分制，加权汇总，阈值以下自动淘汰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AI赋能：DeepSeek驱动的市场细分与客户筛选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11480"/>
          </a:xfrm>
          <a:prstGeom prst="rect">
            <a:avLst>
              <a:gd name="adj" fmla="val 13333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560320" cy="1828800"/>
          </a:xfrm>
          <a:prstGeom prst="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数据输入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导入客户交易/行为/属性数据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2103120"/>
            <a:ext cx="2560320" cy="1828800"/>
          </a:xfrm>
          <a:prstGeom prst="rect">
            <a:avLst>
              <a:gd name="adj" fmla="val 4000"/>
            </a:avLst>
          </a:prstGeom>
          <a:solidFill>
            <a:srgbClr val="F0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智能聚类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DeepSeek自动识别客户群体特征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103120"/>
            <a:ext cx="2560320" cy="1828800"/>
          </a:xfrm>
          <a:prstGeom prst="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市场细分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生成差异化市场细分方案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2103120"/>
            <a:ext cx="2560320" cy="1828800"/>
          </a:xfrm>
          <a:prstGeom prst="rect">
            <a:avLst>
              <a:gd name="adj" fmla="val 4000"/>
            </a:avLst>
          </a:prstGeom>
          <a:solidFill>
            <a:srgbClr val="F0F4FA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2194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832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目标筛选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418320" y="3108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评估各细分市场吸引力与可行性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389120"/>
            <a:ext cx="10725912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572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实操要点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提示词设计：明确细分维度（人口/行为/价值/需求）→ 指定输出格式 → 迭代优化结果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验证方法：与行内客户分群结果交叉验证，确保AI输出与业务逻辑一致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案例：中信银行二维码支付 &amp; 浙商银行「趣发现」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011680" cy="411480"/>
          </a:xfrm>
          <a:prstGeom prst="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239512" cy="3657600"/>
          </a:xfrm>
          <a:prstGeom prst="rect">
            <a:avLst>
              <a:gd name="adj" fmla="val 2500"/>
            </a:avLst>
          </a:prstGeom>
          <a:solidFill>
            <a:srgbClr val="FFF8F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中信银行·二维码支付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背景：支付场景碎片化，客户需统一支付入口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创意来源：客户之声+竞品分析发现痛点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筛选逻辑：战略一致性高+技术可行性强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成果：交易笔数月增40%，客户活跃度显著提升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5239512" cy="3657600"/>
          </a:xfrm>
          <a:prstGeom prst="rect">
            <a:avLst>
              <a:gd name="adj" fmla="val 2500"/>
            </a:avLst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浙商银行·趣发现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766560" y="2926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背景：年轻客群触达难，传统营销效果递减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创意来源：次级市场研究+社交聆听发现趋势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筛选逻辑：组合平衡，兼顾短期获客与长期运营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成果：新客获取成本降低35%，留存率提升28%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产品商业论证四要素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100584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10058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用户需求分析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011680" y="1920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目标用户是谁？核心痛点是什么？需求紧迫度如何？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725912" cy="100584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06040"/>
            <a:ext cx="73152" cy="100584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69748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竞争者分析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31546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现有解决方案？竞品优劣势？差异化空间？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10725912" cy="100584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840480"/>
            <a:ext cx="73152" cy="100584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93192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011680" y="4389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市场规模与增速？份额预估？获客路径？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074920"/>
            <a:ext cx="10725912" cy="1005840"/>
          </a:xfrm>
          <a:prstGeom prst="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5074920"/>
            <a:ext cx="73152" cy="100584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1663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011680" y="5166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011680" y="56235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投入成本测算？收入模型？ROI与回收期？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产品质量屋：将客户需求系统性转化为产品设计的关键方法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商业论证：销售预测与财务分析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销售预测方法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54880" cy="82296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57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TAM/SAM/SOM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423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总市场→可触达→可获取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4754880" cy="82296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063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AARRR漏斗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3429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获客→激活→留存→变现→传播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023360"/>
            <a:ext cx="4754880" cy="82296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历史类比法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4434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参考同类产品/市场表现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财务分析关键指标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4754880" cy="594360"/>
          </a:xfrm>
          <a:prstGeom prst="rect">
            <a:avLst>
              <a:gd name="adj" fmla="val 6154"/>
            </a:avLst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开发成本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2011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人力+技术+运营投入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2743200"/>
            <a:ext cx="4754880" cy="594360"/>
          </a:xfrm>
          <a:prstGeom prst="rect">
            <a:avLst>
              <a:gd name="adj" fmla="val 6154"/>
            </a:avLst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7432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运营成本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27432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持续性维护与迭代费用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3474720"/>
            <a:ext cx="4754880" cy="594360"/>
          </a:xfrm>
          <a:prstGeom prst="rect">
            <a:avLst>
              <a:gd name="adj" fmla="val 6154"/>
            </a:avLst>
          </a:prstGeom>
          <a:solidFill>
            <a:srgbClr val="E8F5E9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34747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收入模型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34747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利息/手续费/平台佣金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206240"/>
            <a:ext cx="4754880" cy="594360"/>
          </a:xfrm>
          <a:prstGeom prst="rect">
            <a:avLst>
              <a:gd name="adj" fmla="val 6154"/>
            </a:avLst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2062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03920" y="42062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投资回报率与回收期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937760"/>
            <a:ext cx="4754880" cy="594360"/>
          </a:xfrm>
          <a:prstGeom prst="rect">
            <a:avLst>
              <a:gd name="adj" fmla="val 6154"/>
            </a:avLst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937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NPV/IRR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4937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净现值与内部收益率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金融产品特殊：需考虑监管成本、合规风险准备金与资本占用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产品质量屋与上市策略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质量屋（House of Quality）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286000" cy="640080"/>
          </a:xfrm>
          <a:prstGeom prst="rect">
            <a:avLst>
              <a:gd name="adj" fmla="val 5714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0" y="2011680"/>
            <a:ext cx="2286000" cy="640080"/>
          </a:xfrm>
          <a:prstGeom prst="rect">
            <a:avLst>
              <a:gd name="adj" fmla="val 5714"/>
            </a:avLst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2011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设计参数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834640"/>
            <a:ext cx="2286000" cy="640080"/>
          </a:xfrm>
          <a:prstGeom prst="rect">
            <a:avLst>
              <a:gd name="adj" fmla="val 5714"/>
            </a:avLst>
          </a:prstGeom>
          <a:solidFill>
            <a:srgbClr val="E8F0F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需求重要性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834640"/>
            <a:ext cx="2286000" cy="640080"/>
          </a:xfrm>
          <a:prstGeom prst="rect">
            <a:avLst>
              <a:gd name="adj" fmla="val 5714"/>
            </a:avLst>
          </a:prstGeom>
          <a:solidFill>
            <a:srgbClr val="FFF3E0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0" y="2834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竟品对照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657600"/>
            <a:ext cx="2286000" cy="640080"/>
          </a:xfrm>
          <a:prstGeom prst="rect">
            <a:avLst>
              <a:gd name="adj" fmla="val 5714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满意度评价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365760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40480" y="3657600"/>
            <a:ext cx="2286000" cy="640080"/>
          </a:xfrm>
          <a:prstGeom prst="rect">
            <a:avLst>
              <a:gd name="adj" fmla="val 5714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0" y="36576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4480560"/>
            <a:ext cx="2286000" cy="640080"/>
          </a:xfrm>
          <a:prstGeom prst="rect">
            <a:avLst>
              <a:gd name="adj" fmla="val 5714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80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改进方向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4480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0" y="4480560"/>
            <a:ext cx="2286000" cy="640080"/>
          </a:xfrm>
          <a:prstGeom prst="rect">
            <a:avLst>
              <a:gd name="adj" fmla="val 5714"/>
            </a:avLst>
          </a:prstGeom>
          <a:solidFill>
            <a:srgbClr val="FFF3E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0" y="4480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相关性矩阵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产品上市策略要点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0" y="2011680"/>
            <a:ext cx="5239512" cy="731520"/>
          </a:xfrm>
          <a:prstGeom prst="rect">
            <a:avLst>
              <a:gd name="adj" fmla="val 7500"/>
            </a:avLst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目标市场选择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明确首发客群与扩展路径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926080"/>
            <a:ext cx="5239512" cy="731520"/>
          </a:xfrm>
          <a:prstGeom prst="rect">
            <a:avLst>
              <a:gd name="adj" fmla="val 7500"/>
            </a:avLst>
          </a:prstGeom>
          <a:solidFill>
            <a:srgbClr val="F5F7F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2971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定价策略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渗透定价vs撇脂定价，匹配市场定位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3840480"/>
            <a:ext cx="5239512" cy="731520"/>
          </a:xfrm>
          <a:prstGeom prst="rect">
            <a:avLst>
              <a:gd name="adj" fmla="val 7500"/>
            </a:avLst>
          </a:prstGeom>
          <a:solidFill>
            <a:srgbClr val="F5F7FA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渠道策略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836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线上+线下全渠道协同推广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4754880"/>
            <a:ext cx="5239512" cy="731520"/>
          </a:xfrm>
          <a:prstGeom prst="rect">
            <a:avLst>
              <a:gd name="adj" fmla="val 7500"/>
            </a:avLst>
          </a:prstGeom>
          <a:solidFill>
            <a:srgbClr val="F5F7FA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营销传播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58368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品牌定位+核心主张+传播触点设计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669280"/>
            <a:ext cx="5239512" cy="731520"/>
          </a:xfrm>
          <a:prstGeom prst="rect">
            <a:avLst>
              <a:gd name="adj" fmla="val 7500"/>
            </a:avLst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715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上市节奏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83680" y="6035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灰度发布→小范围验证→全面推广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AI赋能：OpenClaw智能体营销策略自动化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11480"/>
          </a:xfrm>
          <a:prstGeom prst="rect">
            <a:avLst>
              <a:gd name="adj" fmla="val 13333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03120"/>
            <a:ext cx="73152" cy="173736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Info-Extractor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从竞品报告、市场研报中自动提取关键信息与数据指标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103120"/>
            <a:ext cx="73152" cy="1737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Data-Analyst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对提取数据进行趋势分析、异常检测、对比洞察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20624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4206240"/>
            <a:ext cx="73152" cy="173736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Report-Generator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自动生成结构化营销策略报告与执行方案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206240"/>
            <a:ext cx="5120640" cy="1737360"/>
          </a:xfrm>
          <a:prstGeom prst="rect">
            <a:avLst>
              <a:gd name="adj" fmla="val 5263"/>
            </a:avLst>
          </a:prstGeom>
          <a:solidFill>
            <a:srgbClr val="F0F4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4206240"/>
            <a:ext cx="73152" cy="173736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389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Knowledge-RAG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83680" y="4937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基于行内知识库检索历史营销案例与最佳实践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457200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结构化新产品开发过程是基础框架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关口管理确保每阶段质量可控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价值主张设计连接客户需求与产品能力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3383280" cy="457200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37160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创意发现与筛选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模糊前端+客户之声是创意核心来源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组合管理三要素保证资源配置合理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阶段评审提高创意转化效率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371600"/>
            <a:ext cx="3383280" cy="457200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商业论证与上市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468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四要素系统论证降低投资风险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质量屋将需求转化为可执行设计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480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AI赋能大幅加速分析与决策效率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B9B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金融客户洞察与精益产品需求分析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0" y="4206240"/>
            <a:ext cx="2130552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 · 用户洞察与场景分析 · 精益需求管理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客户数据分析与精准画像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基础属性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年龄/性别/职业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学历/家庭结构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地域分布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财务状况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资产规模与构成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收入水平与稳定性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负债与流动性指标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行为偏好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渠道使用偏好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产品持有与活跃度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交易频率与金额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1371600"/>
            <a:ext cx="2560320" cy="32004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97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投资风险承受度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2880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产品风险等级偏好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历史损失承受记录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846320"/>
            <a:ext cx="10725912" cy="1188720"/>
          </a:xfrm>
          <a:prstGeom prst="rect">
            <a:avLst>
              <a:gd name="adj" fmla="val 6154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客户价值模型构建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97280" y="5440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当前价值（交易贡献）+ 潜在价值（成长空间）+ 影响价值（口碑传播）= 全面客户价值评估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客户数据采集：全方位数据源整合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交易数据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账户流水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支付记录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投资交易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行为数据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APP点击流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页面浏览路径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功能使用频次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属性数据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人口统计特征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职业信息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资产证明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35440" y="1371600"/>
            <a:ext cx="2560320" cy="27432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交互数据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09760" y="2286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客服记录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2788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投诉工单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3291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满意度反馈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4389120"/>
            <a:ext cx="10725912" cy="1828800"/>
          </a:xfrm>
          <a:prstGeom prst="rect">
            <a:avLst>
              <a:gd name="adj" fmla="val 4000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45720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数据整合要点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5029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统一客户ID：打通各系统数据孤岛，One ID体系是基础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实时+批量：行为数据实时采集，交易数据批量更新，合理搭配时效性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80160" y="5760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合规优先：个人信息保护法与数据安全法是红线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客户价值模型构建方法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3200400"/>
          </a:xfrm>
          <a:prstGeom prst="rect">
            <a:avLst>
              <a:gd name="adj" fmla="val 2857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当前价值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客户当前对银行的贡献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AUM管理资产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交易手续费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产品持有数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383280" cy="3200400"/>
          </a:xfrm>
          <a:prstGeom prst="rect">
            <a:avLst>
              <a:gd name="adj" fmla="val 2857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1371600"/>
            <a:ext cx="338328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潜在价值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客户未来成长空间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收入增长潜力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资产提升空间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生命周期阶段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383280" cy="3200400"/>
          </a:xfrm>
          <a:prstGeom prst="rect">
            <a:avLst>
              <a:gd name="adj" fmla="val 2857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影响价值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客户口碑与社交传播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0392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转介绍意愿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0392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社交影响力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品牌忠诚度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1520" y="4846320"/>
            <a:ext cx="10725912" cy="1188720"/>
          </a:xfrm>
          <a:prstGeom prst="rect">
            <a:avLst>
              <a:gd name="adj" fmla="val 6154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RFM分析模型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54864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R(Recency)最近交易时间 + F(Frequency)交易频率 + M(Monetary)交易金额 = 客户价值分层核心指标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AI赋能：DeepSeek客户画像模型搭建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11480"/>
          </a:xfrm>
          <a:prstGeom prst="rect">
            <a:avLst>
              <a:gd name="adj" fmla="val 13333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560320" cy="1645920"/>
          </a:xfrm>
          <a:prstGeom prst="rect">
            <a:avLst>
              <a:gd name="adj" fmla="val 4444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数据预处理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清洗/标准化/补全多源客户数据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2103120"/>
            <a:ext cx="2560320" cy="1645920"/>
          </a:xfrm>
          <a:prstGeom prst="rect">
            <a:avLst>
              <a:gd name="adj" fmla="val 4444"/>
            </a:avLst>
          </a:prstGeom>
          <a:solidFill>
            <a:srgbClr val="F0F4FA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DeepSeek自动生成衍生特征变量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103120"/>
            <a:ext cx="2560320" cy="1645920"/>
          </a:xfrm>
          <a:prstGeom prst="rect">
            <a:avLst>
              <a:gd name="adj" fmla="val 4444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736092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分群建模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聚类算法识别高价值客户群体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35440" y="2103120"/>
            <a:ext cx="2560320" cy="1645920"/>
          </a:xfrm>
          <a:prstGeom prst="rect">
            <a:avLst>
              <a:gd name="adj" fmla="val 4444"/>
            </a:avLst>
          </a:prstGeom>
          <a:solidFill>
            <a:srgbClr val="F0F4FA"/>
          </a:solidFill>
          <a:ln/>
        </p:spPr>
      </p:sp>
      <p:sp>
        <p:nvSpPr>
          <p:cNvPr id="20" name="Text 18"/>
          <p:cNvSpPr/>
          <p:nvPr/>
        </p:nvSpPr>
        <p:spPr>
          <a:xfrm>
            <a:off x="10195560" y="21945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418320" y="2651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画像输出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生成标签体系与可视化画像卡片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10725912" cy="2011680"/>
          </a:xfrm>
          <a:prstGeom prst="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4297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DeepSeek实操提示词示例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"请基于以下客户交易数据（CSV格式），进行RFM分析并划分客户价值层级。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输出要求：1）每个层级的客户数量与占比 2）RFM各维度均值 3）差异化运营建议"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56692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关键：明确数据格式 + 指定输出结构 + 提供业务场景上下文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案例：民生银行 &amp; 某城商行客户画像实践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011680" cy="411480"/>
          </a:xfrm>
          <a:prstGeom prst="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5239512" cy="4114800"/>
          </a:xfrm>
          <a:prstGeom prst="rect">
            <a:avLst>
              <a:gd name="adj" fmla="val 2222"/>
            </a:avLst>
          </a:prstGeom>
          <a:solidFill>
            <a:srgbClr val="FFF8F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民生银行客户画像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构建200+标签体系，覆盖8大客群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大数据+AI驱动的实时画像更新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画像结果直接对接营销自动化系统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实现千人千面的精准产品推荐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5120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营销响应率提升45%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103120"/>
            <a:ext cx="5239512" cy="4114800"/>
          </a:xfrm>
          <a:prstGeom prst="rect">
            <a:avLst>
              <a:gd name="adj" fmla="val 2222"/>
            </a:avLst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某城商行画像三步法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29260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Step1 数据汇聚：整合行内外全量客户数据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34747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Step2 标签建设：构建5类30项核心标签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4023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Step3 场景应用：按场景调用画像驱动运营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45720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重点：小而精的标签体系，聚焦业务可操作性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5120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交叉销售转化率提升32%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用户洞察与场景分析方法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用户角色识别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定义产品涉及的各类用户角色及其核心目标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1371600"/>
            <a:ext cx="338328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场景角色分析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分析用户在特定场景下扮演的角色与行为模式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371600"/>
            <a:ext cx="338328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角色任务分析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0" y="21945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拆解每个角色需要完成的核心任务及痛点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657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用户行为旅程图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20116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5120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了解金融产品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4297680"/>
            <a:ext cx="20116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🤔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2004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5120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比较选择方案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4297680"/>
            <a:ext cx="2011680" cy="1645920"/>
          </a:xfrm>
          <a:prstGeom prst="rect">
            <a:avLst>
              <a:gd name="adj" fmla="val 4444"/>
            </a:avLst>
          </a:prstGeom>
          <a:solidFill>
            <a:srgbClr val="FFF3E0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5120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填写资料审批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0" y="4297680"/>
            <a:ext cx="20116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724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0" y="5120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日常使用产品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875520" y="4297680"/>
            <a:ext cx="2011680" cy="1645920"/>
          </a:xfrm>
          <a:prstGeom prst="rect">
            <a:avLst>
              <a:gd name="adj" fmla="val 4444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987552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😊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0" y="4754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0" y="5120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持续使用或升级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关键：识别情绪低谷（痛点）= 产品机会点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人物画像、洞察矩阵与产品架构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用户洞察矩阵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2194560" cy="1371600"/>
          </a:xfrm>
          <a:prstGeom prst="rect">
            <a:avLst>
              <a:gd name="adj" fmla="val 5333"/>
            </a:avLst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基础功能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显性需求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显性表达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194560" cy="1371600"/>
          </a:xfrm>
          <a:prstGeom prst="rect">
            <a:avLst>
              <a:gd name="adj" fmla="val 5333"/>
            </a:avLst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1945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增值服务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隐性需求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显性表达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2194560" cy="1371600"/>
          </a:xfrm>
          <a:prstGeom prst="rect">
            <a:avLst>
              <a:gd name="adj" fmla="val 5333"/>
            </a:avLst>
          </a:prstGeom>
          <a:solidFill>
            <a:srgbClr val="ED7D31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显性需求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隐性表达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657600"/>
            <a:ext cx="2194560" cy="1371600"/>
          </a:xfrm>
          <a:prstGeom prst="rect">
            <a:avLst>
              <a:gd name="adj" fmla="val 5333"/>
            </a:avLst>
          </a:prstGeom>
          <a:solidFill>
            <a:srgbClr val="70AD47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840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创新突破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6616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隐性需求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隐性表达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产品愿景→架构→路线图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17920" y="2011680"/>
            <a:ext cx="5239512" cy="1097280"/>
          </a:xfrm>
          <a:prstGeom prst="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011680"/>
            <a:ext cx="54864" cy="10972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产品愿景说明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836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描述产品3-5年发展方向与核心价值主张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383280"/>
            <a:ext cx="5239512" cy="1097280"/>
          </a:xfrm>
          <a:prstGeom prst="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3383280"/>
            <a:ext cx="54864" cy="10972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产品架构设计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8368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功能架构+信息架构+技术架构三位一体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4754880"/>
            <a:ext cx="5239512" cy="1097280"/>
          </a:xfrm>
          <a:prstGeom prst="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4754880"/>
            <a:ext cx="54864" cy="10972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83680" y="5257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按季度规划功能迭代节奏与里程碑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产品愿景说明与路线图规划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产品愿景说明（Vision Statement）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725912" cy="109728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模板：对于 [目标客群]，我们的产品是 [品类定位]，它能 [核心价值]，不同于 [竞品]，我们 [差异化优势]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产品路线图示例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560320" cy="2011680"/>
          </a:xfrm>
          <a:prstGeom prst="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393192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基础能力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核心功能上线 + 基础客群验证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3931920"/>
            <a:ext cx="2560320" cy="2011680"/>
          </a:xfrm>
          <a:prstGeom prst="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3566160" y="393192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体验优化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5029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用户反馈迭代 + 体验优化升级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931920"/>
            <a:ext cx="2560320" cy="2011680"/>
          </a:xfrm>
          <a:prstGeom prst="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93192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生态拓展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5029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场景化金融服务 + 合作伙伴接入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3931920"/>
            <a:ext cx="2560320" cy="2011680"/>
          </a:xfrm>
          <a:prstGeom prst="rect">
            <a:avLst>
              <a:gd name="adj" fmla="val 3636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393192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6" name="Text 24"/>
          <p:cNvSpPr/>
          <p:nvPr/>
        </p:nvSpPr>
        <p:spPr>
          <a:xfrm>
            <a:off x="941832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418320" y="4572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智能升级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418320" y="5029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AI个性化推荐 + 智能风控增强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AI赋能：DeepSeek驱动客户生命周期管理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743200" cy="411480"/>
          </a:xfrm>
          <a:prstGeom prst="rect">
            <a:avLst>
              <a:gd name="adj" fmla="val 13333"/>
            </a:avLst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0725912" cy="868680"/>
          </a:xfrm>
          <a:prstGeom prst="rect">
            <a:avLst>
              <a:gd name="adj" fmla="val 6316"/>
            </a:avLst>
          </a:prstGeom>
          <a:solidFill>
            <a:srgbClr val="F5F7F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103120"/>
            <a:ext cx="54864" cy="86868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286000"/>
            <a:ext cx="1371600" cy="502920"/>
          </a:xfrm>
          <a:prstGeom prst="rect">
            <a:avLst>
              <a:gd name="adj" fmla="val 7273"/>
            </a:avLst>
          </a:prstGeom>
          <a:solidFill>
            <a:srgbClr val="5B9BD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86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286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精准获客：AI预测高潜客户，优化投放渠道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10725912" cy="868680"/>
          </a:xfrm>
          <a:prstGeom prst="rect">
            <a:avLst>
              <a:gd name="adj" fmla="val 6316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154680"/>
            <a:ext cx="54864" cy="8686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3337560"/>
            <a:ext cx="1371600" cy="502920"/>
          </a:xfrm>
          <a:prstGeom prst="rect">
            <a:avLst>
              <a:gd name="adj" fmla="val 7273"/>
            </a:avLst>
          </a:prstGeom>
          <a:solidFill>
            <a:srgbClr val="4472C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3375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成长期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3375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交叉销售：智能推荐匹配产品，提升持有度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25912" cy="868680"/>
          </a:xfrm>
          <a:prstGeom prst="rect">
            <a:avLst>
              <a:gd name="adj" fmla="val 6316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4206240"/>
            <a:ext cx="54864" cy="86868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4389120"/>
            <a:ext cx="1371600" cy="502920"/>
          </a:xfrm>
          <a:prstGeom prst="rect">
            <a:avLst>
              <a:gd name="adj" fmla="val 7273"/>
            </a:avLst>
          </a:prstGeom>
          <a:solidFill>
            <a:srgbClr val="70AD47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3891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0" y="4389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价值挖掘：识别升级机会，推动资产配置优化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" y="5257800"/>
            <a:ext cx="10725912" cy="868680"/>
          </a:xfrm>
          <a:prstGeom prst="rect">
            <a:avLst>
              <a:gd name="adj" fmla="val 6316"/>
            </a:avLst>
          </a:prstGeom>
          <a:solidFill>
            <a:srgbClr val="F5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5257800"/>
            <a:ext cx="54864" cy="8686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5440680"/>
            <a:ext cx="1371600" cy="502920"/>
          </a:xfrm>
          <a:prstGeom prst="rect">
            <a:avLst>
              <a:gd name="adj" fmla="val 7273"/>
            </a:avLst>
          </a:prstGeom>
          <a:solidFill>
            <a:srgbClr val="ED7D31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4406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衰退期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743200" y="5440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流失预警：提前识别流失信号，触发挽留策略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31520" y="4754880"/>
            <a:ext cx="10725912" cy="1371600"/>
          </a:xfrm>
          <a:prstGeom prst="rect">
            <a:avLst>
              <a:gd name="adj" fmla="val 5333"/>
            </a:avLst>
          </a:prstGeom>
          <a:solidFill>
            <a:srgbClr val="E8F0FE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49377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DeepSeek应用场景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53949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自然语言生成客户洞察报告  ▸ 自动识别客户行为异常  ▸ 智能生成分群运营策略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案例：招商银行洞察客户需求全过程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011680" cy="411480"/>
          </a:xfrm>
          <a:prstGeom prst="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10725912" cy="731520"/>
          </a:xfrm>
          <a:prstGeom prst="rect">
            <a:avLst>
              <a:gd name="adj" fmla="val 10000"/>
            </a:avLst>
          </a:prstGeom>
          <a:solidFill>
            <a:srgbClr val="FFF8F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194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招商银行：以客户旅程为核心的需求洞察体系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108960"/>
            <a:ext cx="548640" cy="54864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全旅程触点采集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线上线下200+触点数据实时归集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108960"/>
            <a:ext cx="548640" cy="54864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情感曲线绘制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量化客户在每个触点的情感体验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60720" y="3108960"/>
            <a:ext cx="548640" cy="54864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痛点机会识别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精准定位体验洼点与改善机会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3108960"/>
            <a:ext cx="548640" cy="54864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需求优先排序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基于影响度×发生频次排列优先级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49840" y="3108960"/>
            <a:ext cx="548640" cy="548640"/>
          </a:xfrm>
          <a:prstGeom prst="ellipse">
            <a:avLst/>
          </a:prstGeom>
          <a:solidFill>
            <a:srgbClr val="ED7D3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创新方案设计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0" y="4297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针对Top痛点设计创新解决方案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303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成效：NPS提升18个百分点，客户投诉率下降26%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招商银行用户旅程图详解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011680" cy="411480"/>
          </a:xfrm>
          <a:prstGeom prst="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2011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10725912" cy="36576"/>
          </a:xfrm>
          <a:prstGeom prst="rect">
            <a:avLst/>
          </a:prstGeom>
          <a:solidFill>
            <a:srgbClr val="E7E6E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651760"/>
            <a:ext cx="10725912" cy="777240"/>
          </a:xfrm>
          <a:prstGeom prst="rect">
            <a:avLst>
              <a:gd name="adj" fmla="val 4706"/>
            </a:avLst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51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6517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广告/推荐/口碑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26517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6517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26517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精准内容触达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10725912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566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3566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APP/网点/客户经理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5661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焦虑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流程繁琐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3566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一键式极简申请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4480560"/>
            <a:ext cx="10725912" cy="777240"/>
          </a:xfrm>
          <a:prstGeom prst="rect">
            <a:avLst>
              <a:gd name="adj" fmla="val 4706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805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审批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286000" y="44805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系统/人工审核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44805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时效不确定性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480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实时进度透明化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5394960"/>
            <a:ext cx="10725912" cy="77724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5394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286000" y="53949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APP/小程序/客服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114800" y="5394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53949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功能学习成本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72400" y="5394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智能引导与推荐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方法论：情感曲线→痛点聚焦→机会识别→创新方案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精益产品需求分析与管理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1645920"/>
          </a:xfrm>
          <a:prstGeom prst="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系统必须执行的功能，如转账、查询、审批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383280" cy="1645920"/>
          </a:xfrm>
          <a:prstGeom prst="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80560" y="1371600"/>
            <a:ext cx="338328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194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性能、安全、可用性等质量属性要求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383280" cy="1645920"/>
          </a:xfrm>
          <a:prstGeom prst="rect">
            <a:avLst>
              <a:gd name="adj" fmla="val 5556"/>
            </a:avLst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645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设计约束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03920" y="2194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合规限制、技术栈约束、预算与时间边界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需求优先级排序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2560320" cy="13716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402336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P0-必须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核心功能，无此功能产品不可发布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4023360"/>
            <a:ext cx="2560320" cy="13716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566160" y="4023360"/>
            <a:ext cx="2560320" cy="54864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4" name="Text 22"/>
          <p:cNvSpPr/>
          <p:nvPr/>
        </p:nvSpPr>
        <p:spPr>
          <a:xfrm>
            <a:off x="374904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P1-重要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4904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提升体验，缺失影响较大但可降级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023360"/>
            <a:ext cx="2560320" cy="13716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0" y="402336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P2-期望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锦上添花，资源允许时纳入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235440" y="4023360"/>
            <a:ext cx="2560320" cy="1371600"/>
          </a:xfrm>
          <a:prstGeom prst="rect">
            <a:avLst>
              <a:gd name="adj" fmla="val 4000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9235440" y="4023360"/>
            <a:ext cx="2560320" cy="54864"/>
          </a:xfrm>
          <a:prstGeom prst="rect">
            <a:avLst/>
          </a:prstGeom>
          <a:solidFill>
            <a:srgbClr val="808080"/>
          </a:solidFill>
          <a:ln/>
        </p:spPr>
      </p:sp>
      <p:sp>
        <p:nvSpPr>
          <p:cNvPr id="32" name="Text 30"/>
          <p:cNvSpPr/>
          <p:nvPr/>
        </p:nvSpPr>
        <p:spPr>
          <a:xfrm>
            <a:off x="9418320" y="4206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P3-可选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18320" y="4663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远期规划，放入需求池待排期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需求启发、确认与业技桥接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需求启发技术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54880" cy="640080"/>
          </a:xfrm>
          <a:prstGeom prst="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574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2057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快速构建可视化原型，降低沟通偏差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834640"/>
            <a:ext cx="4754880" cy="640080"/>
          </a:xfrm>
          <a:prstGeom prst="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880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场景化叙事呈现用户操作流程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4754880" cy="640080"/>
          </a:xfrm>
          <a:prstGeom prst="rect">
            <a:avLst>
              <a:gd name="adj" fmla="val 8571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703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37033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低保真界面布局，聚焦功能而非美观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需求确认与核实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0292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需求跟踪矩阵：每条需求的状态全程可追溯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关系与依赖性：识别需求间的前后依赖，避免遗漏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业务需求与技术需求桥接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5239512" cy="3657600"/>
          </a:xfrm>
          <a:prstGeom prst="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2286000"/>
            <a:ext cx="1828800" cy="548640"/>
          </a:xfrm>
          <a:prstGeom prst="rect">
            <a:avLst>
              <a:gd name="adj" fmla="val 6667"/>
            </a:avLst>
          </a:prstGeom>
          <a:solidFill>
            <a:srgbClr val="4472C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业务需求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39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2286000"/>
            <a:ext cx="1828800" cy="548640"/>
          </a:xfrm>
          <a:prstGeom prst="rect">
            <a:avLst>
              <a:gd name="adj" fmla="val 6667"/>
            </a:avLst>
          </a:prstGeom>
          <a:solidFill>
            <a:srgbClr val="4472C4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3108960"/>
            <a:ext cx="1828800" cy="548640"/>
          </a:xfrm>
          <a:prstGeom prst="rect">
            <a:avLst>
              <a:gd name="adj" fmla="val 6667"/>
            </a:avLst>
          </a:prstGeom>
          <a:solidFill>
            <a:srgbClr val="5B9BD5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52560" y="3108960"/>
            <a:ext cx="1828800" cy="548640"/>
          </a:xfrm>
          <a:prstGeom prst="rect">
            <a:avLst>
              <a:gd name="adj" fmla="val 6667"/>
            </a:avLst>
          </a:prstGeom>
          <a:solidFill>
            <a:srgbClr val="5B9BD5"/>
          </a:solidFill>
          <a:ln/>
        </p:spPr>
      </p:sp>
      <p:sp>
        <p:nvSpPr>
          <p:cNvPr id="28" name="Text 26"/>
          <p:cNvSpPr/>
          <p:nvPr/>
        </p:nvSpPr>
        <p:spPr>
          <a:xfrm>
            <a:off x="905256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83680" y="3931920"/>
            <a:ext cx="1828800" cy="548640"/>
          </a:xfrm>
          <a:prstGeom prst="rect">
            <a:avLst>
              <a:gd name="adj" fmla="val 6667"/>
            </a:avLst>
          </a:prstGeom>
          <a:solidFill>
            <a:srgbClr val="70AD47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52560" y="3931920"/>
            <a:ext cx="1828800" cy="548640"/>
          </a:xfrm>
          <a:prstGeom prst="rect">
            <a:avLst>
              <a:gd name="adj" fmla="val 6667"/>
            </a:avLst>
          </a:prstGeom>
          <a:solidFill>
            <a:srgbClr val="70AD47"/>
          </a:solidFill>
          <a:ln/>
        </p:spPr>
      </p:sp>
      <p:sp>
        <p:nvSpPr>
          <p:cNvPr id="33" name="Text 31"/>
          <p:cNvSpPr/>
          <p:nvPr/>
        </p:nvSpPr>
        <p:spPr>
          <a:xfrm>
            <a:off x="9052560" y="39319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4754880"/>
            <a:ext cx="1828800" cy="548640"/>
          </a:xfrm>
          <a:prstGeom prst="rect">
            <a:avLst>
              <a:gd name="adj" fmla="val 6667"/>
            </a:avLst>
          </a:prstGeom>
          <a:solidFill>
            <a:srgbClr val="ED7D31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052560" y="4754880"/>
            <a:ext cx="1828800" cy="548640"/>
          </a:xfrm>
          <a:prstGeom prst="rect">
            <a:avLst>
              <a:gd name="adj" fmla="val 6667"/>
            </a:avLst>
          </a:prstGeom>
          <a:solidFill>
            <a:srgbClr val="ED7D31"/>
          </a:solidFill>
          <a:ln/>
        </p:spPr>
      </p:sp>
      <p:sp>
        <p:nvSpPr>
          <p:cNvPr id="38" name="Text 36"/>
          <p:cNvSpPr/>
          <p:nvPr/>
        </p:nvSpPr>
        <p:spPr>
          <a:xfrm>
            <a:off x="9052560" y="47548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需求跟踪矩阵与依赖性管理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18872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320040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需求描述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371600"/>
            <a:ext cx="118872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371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83680" y="1371600"/>
            <a:ext cx="137160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3383280" cy="45720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371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关联需求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1920240"/>
            <a:ext cx="10725912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一键转账功能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920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开发中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19202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468880"/>
            <a:ext cx="1072591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468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2468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智能还款提醒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468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0" y="2468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待评审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24688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017520"/>
            <a:ext cx="10725912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011680" y="3017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人脸识别登录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83680" y="30175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0" y="3017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3566160"/>
            <a:ext cx="1072591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3566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社交化账单分享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35661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83680" y="3566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需求池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46720" y="3566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4114800"/>
            <a:ext cx="10725912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风控交易拦截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41148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4114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测试中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46720" y="41148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" y="4663440"/>
            <a:ext cx="1072591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REQ-006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011680" y="4663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隐私合规审计日志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46634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46634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46634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" y="54864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核心价值：全程可追溯 + 依赖可视化 + 变更影响评估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工具建议：JIRA/Azure DevOps + 自定义需求跟踪矩阵模板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案例：广发智能手环 &amp; 银联业技融合 &amp; 汇丰需求管理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011680" cy="411480"/>
          </a:xfrm>
          <a:prstGeom prst="rect">
            <a:avLst>
              <a:gd name="adj" fmla="val 13333"/>
            </a:avLst>
          </a:prstGeom>
          <a:solidFill>
            <a:srgbClr val="ED7D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3383280" cy="3840480"/>
          </a:xfrm>
          <a:prstGeom prst="rect">
            <a:avLst>
              <a:gd name="adj" fmla="val 2703"/>
            </a:avLst>
          </a:prstGeom>
          <a:solidFill>
            <a:srgbClr val="FFF8F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广发银行·智能支付手环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需求启发：通过场景角色分析识别支付+健康融合需求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优先级：P0支付功能 + P1健康监测 + P2社交功能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成果：首发月用户超10万，支付成功率99.2%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3383280" cy="3840480"/>
          </a:xfrm>
          <a:prstGeom prst="rect">
            <a:avLst>
              <a:gd name="adj" fmla="val 2703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银联·业技融合实践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建立业务需求→技术实现的标准化映射流程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产品经理与技术架构师联合需求评审机制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需求变更响应时间缩短60%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2103120"/>
            <a:ext cx="3383280" cy="3840480"/>
          </a:xfrm>
          <a:prstGeom prst="rect">
            <a:avLst>
              <a:gd name="adj" fmla="val 2703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汇丰银行·需求全生命周期管理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03920" y="29260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需求跟踪矩阵覆盖从提出到上线全流程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自动化需求关联分析与影响范围评估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03920" y="4754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需求遗漏率降低75%，返工率下降40%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457200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338328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四维画像体系是精准营销基础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客户价值模型量化评估客户贡献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480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AI+数据驱动画像从静态走向动态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3383280" cy="457200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1371600"/>
            <a:ext cx="338328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用户洞察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用户旅程图是系统化洞察的利器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洞察矩阵帮助识别隐性创新机会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4480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产品愿景→架构→路线图三层衔接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371600"/>
            <a:ext cx="3383280" cy="4572000"/>
          </a:xfrm>
          <a:prstGeom prst="rect">
            <a:avLst>
              <a:gd name="adj" fmla="val 2703"/>
            </a:avLst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1371600"/>
            <a:ext cx="338328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精益需求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3920" y="24688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三类需求分类确保覆盖全面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4747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优先级排序保证资源聚焦核心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4805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业技桥接消除需求传递损耗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课程核心要点回顾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3383280" cy="2194560"/>
          </a:xfrm>
          <a:prstGeom prst="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结构化思维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从商业模式到客户洞察，用系统框架替代经验直觉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3383280" cy="2194560"/>
          </a:xfrm>
          <a:prstGeom prst="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1371600"/>
            <a:ext cx="73152" cy="2194560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0352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客户画像+行为分析+商业论证，让每个决策有据可依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383280" cy="2194560"/>
          </a:xfrm>
          <a:prstGeom prst="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1371600"/>
            <a:ext cx="73152" cy="219456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5256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精益需求管理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22860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分类→优先级→确认→桥接，消除需求传递损耗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931920"/>
            <a:ext cx="3383280" cy="2194560"/>
          </a:xfrm>
          <a:prstGeom prst="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55448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AI能力赋能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DeepSeek+OpenClaw，让AI成为产品经理的倍增器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80560" y="3931920"/>
            <a:ext cx="3383280" cy="2194560"/>
          </a:xfrm>
          <a:prstGeom prst="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3931920"/>
            <a:ext cx="73152" cy="2194560"/>
          </a:xfrm>
          <a:prstGeom prst="rect">
            <a:avLst/>
          </a:prstGeom>
          <a:solidFill>
            <a:srgbClr val="44546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45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30352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实战案例验证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招商/民生/中信/广发/汇丰，最佳实践可借鉴可落地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0" y="3931920"/>
            <a:ext cx="3383280" cy="2194560"/>
          </a:xfrm>
          <a:prstGeom prst="rect">
            <a:avLst>
              <a:gd name="adj" fmla="val 4167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0" y="3931920"/>
            <a:ext cx="73152" cy="2194560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05256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持续迭代优化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产品管理不是一次性项目，而是持续进化的闭环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产品经理能力进阶路径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2560320" cy="36576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需求执行者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需求文档编写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功能验收测试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项目进度跟踪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371600"/>
            <a:ext cx="2560320" cy="36576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371600"/>
            <a:ext cx="2560320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中级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产品规划者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商业模式分析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3474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客户洞察与画像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需求优先级管理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1371600"/>
            <a:ext cx="2560320" cy="36576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371600"/>
            <a:ext cx="2560320" cy="54864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8368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产品战略规划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474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组合管理与平衡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AI工具赋能决策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35440" y="1371600"/>
            <a:ext cx="2560320" cy="3657600"/>
          </a:xfrm>
          <a:prstGeom prst="rect">
            <a:avLst>
              <a:gd name="adj" fmla="val 3571"/>
            </a:avLst>
          </a:prstGeom>
          <a:solidFill>
            <a:srgbClr val="F5F7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5440" y="1371600"/>
            <a:ext cx="2560320" cy="54864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4183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组织引领者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0" y="2834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产品创新体系搭建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09760" y="34747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业技融合架构设计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0" y="4114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团队培养与方法论沉淀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54864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今日课程覆盖中级→高级的核心能力跃迁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课程行动清单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10725912" cy="1554480"/>
          </a:xfrm>
          <a:prstGeom prst="rect">
            <a:avLst>
              <a:gd name="adj" fmla="val 4706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155448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即刻行动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梳理当前产品商业模式类型，明确核心收入来源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建立客户画像基础标签体系，从5类30项开始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725912" cy="1554480"/>
          </a:xfrm>
          <a:prstGeom prst="rect">
            <a:avLst>
              <a:gd name="adj" fmla="val 4706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108960"/>
            <a:ext cx="54864" cy="1554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短期落地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引入DeepSeek辅助客户分群与需求分析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搭建需求跟踪矩阵，实现需求全程可追溯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480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设计用户旅程图，识别3个核心痛点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725912" cy="1554480"/>
          </a:xfrm>
          <a:prstGeom prst="rect">
            <a:avLst>
              <a:gd name="adj" fmla="val 4706"/>
            </a:avLst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846320"/>
            <a:ext cx="54864" cy="1554480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937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AD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中期提升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94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建立产品组合管理机制，平衡资源与战略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推进业技融合，建立联合需求评审流程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6217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构建AI赋能的产品决策辅助体系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&gt; 完美。先把一个方法论用透，再追求体系完善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讨论与实战演练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12064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71600"/>
            <a:ext cx="54864" cy="20116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练习1：商业模式画布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选择本行一款产品，使用商业模式画布分析其价值主张、收入模型与差异化优势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20分钟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12064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371600"/>
            <a:ext cx="54864" cy="20116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练习2：客户画像搭建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基于DeepSeek，为选定产品的目标客群构建客户画像，含4维度15项标签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30分钟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12064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749040"/>
            <a:ext cx="54864" cy="20116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练习3：用户旅程绘制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绘制目标客户的完整用户旅程图，标注3个以上痛点与对应机会点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25分钟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749040"/>
            <a:ext cx="5120640" cy="2011680"/>
          </a:xfrm>
          <a:prstGeom prst="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3749040"/>
            <a:ext cx="54864" cy="20116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练习4：需求优先级排序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3891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针对痛点机会点生成10条需求，使用评分表进行优先级排序与商业论证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20分钟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AI工具赋能全景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645920" cy="36576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54880" cy="54864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行业数据分析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商业模式决策辅助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4754880" cy="54864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697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客户画像建模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精准客群识别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754880" cy="54864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市场细分筛选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目标客户锁定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4754880" cy="548640"/>
          </a:xfrm>
          <a:prstGeom prst="rect">
            <a:avLst>
              <a:gd name="adj" fmla="val 6667"/>
            </a:avLst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069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生命周期管理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客户运营策略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137160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OpenClaw智能体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2011680"/>
            <a:ext cx="4754880" cy="548640"/>
          </a:xfrm>
          <a:prstGeom prst="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Info-Extractor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0" y="20116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信息自动提取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697480"/>
            <a:ext cx="4754880" cy="548640"/>
          </a:xfrm>
          <a:prstGeom prst="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697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Data-Analyst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2697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数据洞察分析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3383280"/>
            <a:ext cx="4754880" cy="548640"/>
          </a:xfrm>
          <a:prstGeom prst="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383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Report-Generator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61120" y="3383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报告自动生成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069080"/>
            <a:ext cx="4754880" cy="548640"/>
          </a:xfrm>
          <a:prstGeom prst="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Knowledge-RAG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61120" y="4069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知识库检索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846320"/>
            <a:ext cx="10725912" cy="1188720"/>
          </a:xfrm>
          <a:prstGeom prst="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97280" y="54406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AI不是替代产品经理，而是将产品经理从重复性分析工作中解放，聚焦于战略思考与创意决策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828800"/>
            <a:ext cx="21305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0" y="3383280"/>
            <a:ext cx="2130552" cy="54864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472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金融产品商业模式分析与客户洞察实战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AI赋能下的银行产品经理能力进阶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0292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欢迎交流与探讨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9537284" y="588645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2026-06-28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金融产品商业模式分析与客户洞察实战—AI赋能下的银行产品经理能力进阶</dc:title>
  <dc:subject>金融培训</dc:subject>
  <dc:creator>于兆鹏</dc:creator>
  <cp:lastModifiedBy>于兆鹏</cp:lastModifiedBy>
  <cp:revision>1</cp:revision>
  <dcterms:created xsi:type="dcterms:W3CDTF">2026-06-28T12:37:11Z</dcterms:created>
  <dcterms:modified xsi:type="dcterms:W3CDTF">2026-06-28T12:37:11Z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fe2ef74e-3c51-41d7-8e46-522e939a236c","ReservedCode1":"75b1dcab-1d7a-47de-af33-f81efe48327b","ContentPropagator":"001191110102MAD55U9H0F10002","PropagateID":"fe2ef74e-3c51-41d7-8e46-522e939a236c","ReservedCode2":"75b1dcab-1d7a-47de-af33-f81efe48327b"}</vt:lpwstr>
  </property>
</Properties>
</file>