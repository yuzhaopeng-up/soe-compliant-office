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  <Relationship Id="rId4" Type="http://schemas.openxmlformats.org/officeDocument/2006/relationships/custom-properties" Target="docProps/custom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客户洞察实战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AI赋能下的银行产品经理能力进阶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0" y="4206240"/>
            <a:ext cx="2130552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6634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讲师：于兆鹏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讲师介绍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于兆鹏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金融人工智能专家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0" y="1188720"/>
            <a:ext cx="3200400" cy="2926080"/>
          </a:xfrm>
          <a:prstGeom prst="roundRect">
            <a:avLst>
              <a:gd name="adj" fmla="val 3125"/>
            </a:avLst>
          </a:prstGeom>
          <a:solidFill>
            <a:srgbClr val="E7E6E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讲师照片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24本专业书籍作者，与电子工业出版社、清华大学出版社合作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1821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长期为金融行业开展AI和数字化培训与咨询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6210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NPDP产品经理认证体系专家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05993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深耕金融产品创新、客户洞察与AI赋能领域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754880"/>
            <a:ext cx="1051560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846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服务客户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52120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工行、农行、中行、建行、交行、招行、浦发、民生、平安、光大、十大股份制银行及多家城商行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103120" y="1737360"/>
            <a:ext cx="0" cy="54864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商业模式概述→创意发现→商业论证→上市策略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103120" y="3383280"/>
            <a:ext cx="0" cy="54864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金融客户洞察与精益产品需求分析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37744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客户画像→用户洞察→精益需求管理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课程概览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2041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两大核心模块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0413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商业模式分析 + 客户洞察与需求分析，全覆盖产品经理核心能力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4438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4438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3687318" y="1554480"/>
            <a:ext cx="2041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6个行业案例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87318" y="2011680"/>
            <a:ext cx="20413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中信银行、浙商银行、招商银行、民生银行、广发银行、汇丰银行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7356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7356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6460236" y="1554480"/>
            <a:ext cx="2041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4个AI赋能实操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60236" y="2011680"/>
            <a:ext cx="20413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DeepSeek数据分析、客户画像、市场筛选，OpenClaw智能体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0274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0274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9" name="Text 17"/>
          <p:cNvSpPr/>
          <p:nvPr/>
        </p:nvSpPr>
        <p:spPr>
          <a:xfrm>
            <a:off x="9233154" y="1554480"/>
            <a:ext cx="2041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1天工作坊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33154" y="2011680"/>
            <a:ext cx="20413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理论+案例+互动+实操，学以致用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335024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28016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掌握结构化新产品开发过程与商业模式分析框架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642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从创意到上市的全流程方法论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39696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08483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学会客户数据分析、精准画像与用户洞察方法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数据驱动的客户理解体系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4436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889504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运用精益需求分析框架提升产品交付质量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273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业技融合的需求管理实践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694176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体验AI工具赋能产品管理全流程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07822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+ OpenClaw实操应用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943600" y="20116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0" y="34747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商业模式概述 → 创意发现与筛选 → 商业论证与上市策略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0" y="438912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1274552" cy="4114800"/>
          </a:xfrm>
          <a:prstGeom prst="roundRect">
            <a:avLst>
              <a:gd name="adj" fmla="val 3333"/>
            </a:avLst>
          </a:prstGeom>
          <a:solidFill>
            <a:srgbClr val="F0F4FA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0116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商业银行产品商业模式概述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0" y="31089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新产品开发过程、商业模式分析框架、价值主张设计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新产品开发过程概述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结构化定义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系统化、标准化的产品开发流程，从创意到上市的完整路径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28744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8744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4611624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关口管理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1624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关键决策评审节点，每个关口设有明确的通过准则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5968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5968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8308848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阶段划分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8848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发现→定义→开发→上市→上市后评审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新产品开发过程中的管理角色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335024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28016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高层赞助人：资源决策与战略把控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642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确保产品与银行战略一致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39696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08483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产品经理：全流程协调与推进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从创意到上市的端到端责任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4436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889504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关口守门人：评审决策与质量把控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273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确保每个阶段达标后方可进入下一阶段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694176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跨职能团队：协同执行与快速迭代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07822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业务+技术+风控多元协作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商业模式分析框架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模糊前端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创意形成的关键阶段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信息不完整、不确定性高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需要规范化的创意产生过程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客户之声(VOC)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需求洞察的源头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定性+定量结合采集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倾听→理解→转化→验证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价值主张设计核心要素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2041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Jobs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0413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客户要完成的任务、问题与基础需求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4438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4438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3687318" y="1554480"/>
            <a:ext cx="2041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Pains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87318" y="2011680"/>
            <a:ext cx="20413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客户在完成任务时遇到的障碍、风险与不便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7356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7356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6460236" y="1554480"/>
            <a:ext cx="2041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Gains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60236" y="2011680"/>
            <a:ext cx="20413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客户期望的收益、成果与需求满足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0274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0274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9" name="Text 17"/>
          <p:cNvSpPr/>
          <p:nvPr/>
        </p:nvSpPr>
        <p:spPr>
          <a:xfrm>
            <a:off x="9233154" y="1554480"/>
            <a:ext cx="2041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产品价值映射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33154" y="2011680"/>
            <a:ext cx="20413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产品如何缓解痛点、创造收益、服务任务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商业模式分析框架全景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559052" cy="3200400"/>
          </a:xfrm>
          <a:prstGeom prst="roundRect">
            <a:avLst>
              <a:gd name="adj" fmla="val 4692"/>
            </a:avLst>
          </a:prstGeom>
          <a:solidFill>
            <a:srgbClr val="F0F4FA"/>
          </a:solidFill>
          <a:ln w="9525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1376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模糊前端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3761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创意形成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信息征集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机会识别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90572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64892" y="1645920"/>
            <a:ext cx="1559052" cy="3200400"/>
          </a:xfrm>
          <a:prstGeom prst="roundRect">
            <a:avLst>
              <a:gd name="adj" fmla="val 4692"/>
            </a:avLst>
          </a:prstGeom>
          <a:solidFill>
            <a:srgbClr val="F0F4FA"/>
          </a:solidFill>
          <a:ln w="9525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6332" y="1783080"/>
            <a:ext cx="1376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VOC采集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56332" y="2240280"/>
            <a:ext cx="13761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客户之声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定性+定量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需求洞察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23944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98264" y="1645920"/>
            <a:ext cx="1559052" cy="3200400"/>
          </a:xfrm>
          <a:prstGeom prst="roundRect">
            <a:avLst>
              <a:gd name="adj" fmla="val 4692"/>
            </a:avLst>
          </a:prstGeom>
          <a:solidFill>
            <a:srgbClr val="F0F4FA"/>
          </a:solidFill>
          <a:ln w="9525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1783080"/>
            <a:ext cx="1376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价值主张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9704" y="2240280"/>
            <a:ext cx="13761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痛点缓解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收益创造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差异定位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57316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31636" y="1645920"/>
            <a:ext cx="1559052" cy="3200400"/>
          </a:xfrm>
          <a:prstGeom prst="roundRect">
            <a:avLst>
              <a:gd name="adj" fmla="val 4692"/>
            </a:avLst>
          </a:prstGeom>
          <a:solidFill>
            <a:srgbClr val="F0F4FA"/>
          </a:solidFill>
          <a:ln w="9525">
            <a:solidFill>
              <a:srgbClr val="447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3076" y="1783080"/>
            <a:ext cx="1376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商业论证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23076" y="2240280"/>
            <a:ext cx="13761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财务分析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ROI评估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90688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065008" y="1645920"/>
            <a:ext cx="1559052" cy="3200400"/>
          </a:xfrm>
          <a:prstGeom prst="roundRect">
            <a:avLst>
              <a:gd name="adj" fmla="val 4692"/>
            </a:avLst>
          </a:prstGeom>
          <a:solidFill>
            <a:srgbClr val="F0F4FA"/>
          </a:solidFill>
          <a:ln w="9525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6448" y="1783080"/>
            <a:ext cx="1376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产品开发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56448" y="2240280"/>
            <a:ext cx="13761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MVP验证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迭代开发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品质管控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2406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898380" y="1645920"/>
            <a:ext cx="1559052" cy="3200400"/>
          </a:xfrm>
          <a:prstGeom prst="roundRect">
            <a:avLst>
              <a:gd name="adj" fmla="val 4692"/>
            </a:avLst>
          </a:prstGeom>
          <a:solidFill>
            <a:srgbClr val="F0F4FA"/>
          </a:solidFill>
          <a:ln w="9525">
            <a:solidFill>
              <a:srgbClr val="447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89820" y="1783080"/>
            <a:ext cx="1376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上市发布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89820" y="2240280"/>
            <a:ext cx="13761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营销策略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渠道布局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效果追踪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商业模式决策助力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E6F0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DeepSeek行业数据智能分析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6517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利用DeepSeek自动采集行业趋势数据，分析竞争格局与市场机会，辅助商业模式设计决策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价值说明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46634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提升决策效率与准确性，发现人工难以觉察的市场模式，缩短商业论证周期30%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商业模式应用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某城商行客户行为特征分析体系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背景：建立全行级客户行为特征分析体系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做法：多维度行为数据采集与建模，识别高价值客户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成效：精准识别高价值客户，营销转化率提升40%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611880"/>
            <a:ext cx="9875520" cy="731520"/>
          </a:xfrm>
          <a:prstGeom prst="roundRect">
            <a:avLst>
              <a:gd name="adj" fmla="val 7500"/>
            </a:avLst>
          </a:prstGeom>
          <a:solidFill>
            <a:srgbClr val="FFF8E1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65760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关键启示：数据驱动的客户洞察是商业模式设计的基础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10360152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1887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ED7D31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您的银行新产品创意主要来自哪里？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请列举3个有效的创意获取渠道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这些渠道的效果如何？有无改进空间？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尝试用VOC方法重新审视一个创意源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1274552" cy="4114800"/>
          </a:xfrm>
          <a:prstGeom prst="roundRect">
            <a:avLst>
              <a:gd name="adj" fmla="val 3333"/>
            </a:avLst>
          </a:prstGeom>
          <a:solidFill>
            <a:srgbClr val="F0F4FA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0116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产品创意发现与筛选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0" y="31089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模糊前端与客户之声 → 创意筛选 → 组合管理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创意发现：模糊前端与客户之声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内部创意来源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员工创意征集与激励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管理层战略解读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跨部门协作碰撞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外部创意来源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客户反馈与投诉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市场趋势与竞品动态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技术变革与政策机遇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市场研究方法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次级市场研究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已有数据分析与整理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行业报告、竞品分析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公开数据与监管信息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552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成本低、速度快、覆盖面广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主要市场研究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一手数据采集与验证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焦点小组、深度访谈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问卷调查与A/B测试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2552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成本高、更准确、有针对性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创意筛选评审条件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335024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28016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战略一致性：是否符合银行战略方向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642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与全行战略规划对齐度评估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39696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08483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市场吸引力：市场规模与增长潜力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TAM/SAM/SOM分析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4436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889504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技术可行性：能否在现有能力范围内实现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273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技术成熟度与团队能力评估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694176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财务可行性：预期ROI是否达标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07822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投入产出模型与盈亏平衡分析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创意提取：阶段1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335024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28016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目标：从大量创意中筛选可行方案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642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采用多维度评分矩阵进行筛选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39696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08483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方法：评分矩阵 + 多维度评估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定量与定性结合的筛选机制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4436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889504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输出：通过筛选的创意清单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273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每个创意附带评分与建议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694176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下一步：进入组合筛选阶段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07822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全局视角优化产品组合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组合管理三要素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资源分配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人力、资金、技术资源优化配置，避免资源分散与浪费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28744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8744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4611624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战略一致性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1624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确保产品组合与银行整体战略对齐，服务核心目标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5968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5968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8308848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组合平衡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8848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风险与收益平衡、短期与长期平衡、创新与优化平衡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创意到上市全流程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68146" y="1828800"/>
            <a:ext cx="914400" cy="9144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1168146" y="1920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7876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创意发现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4852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55798" y="1828800"/>
            <a:ext cx="914400" cy="9144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2955798" y="1920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19172" y="2926080"/>
            <a:ext cx="17876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创意筛选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32504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743450" y="1828800"/>
            <a:ext cx="914400" cy="9144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4743450" y="1920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306824" y="2926080"/>
            <a:ext cx="17876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组合管理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20156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31102" y="1828800"/>
            <a:ext cx="914400" cy="9144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8" name="Text 16"/>
          <p:cNvSpPr/>
          <p:nvPr/>
        </p:nvSpPr>
        <p:spPr>
          <a:xfrm>
            <a:off x="6531102" y="1920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94476" y="2926080"/>
            <a:ext cx="17876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商业论证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07808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318754" y="1828800"/>
            <a:ext cx="914400" cy="9144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2" name="Text 20"/>
          <p:cNvSpPr/>
          <p:nvPr/>
        </p:nvSpPr>
        <p:spPr>
          <a:xfrm>
            <a:off x="8318754" y="1920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882128" y="2926080"/>
            <a:ext cx="17876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产品开发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954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0106406" y="1828800"/>
            <a:ext cx="914400" cy="9144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6" name="Text 24"/>
          <p:cNvSpPr/>
          <p:nvPr/>
        </p:nvSpPr>
        <p:spPr>
          <a:xfrm>
            <a:off x="10106406" y="1920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669780" y="2926080"/>
            <a:ext cx="17876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上市发布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市场细分与客户筛选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E6F0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DeepSeek驱动的市场细分与目标客户筛选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6517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输入产品特征，DeepSeek自动分析市场细分，桶定目标客群画像与需求特征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价值说明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46634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精准定位目标客户，降低获客成本25%，提升营销转化率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场景创新案例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中信银行二维码支付产品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背景：移动支付场景化创新需求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做法：基于客户场景的支付产品设计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成效：快速获取市场份额，用户数月增30%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611880"/>
            <a:ext cx="9875520" cy="731520"/>
          </a:xfrm>
          <a:prstGeom prst="roundRect">
            <a:avLst>
              <a:gd name="adj" fmla="val 7500"/>
            </a:avLst>
          </a:prstGeom>
          <a:solidFill>
            <a:srgbClr val="FFF8E1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65760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关键启示：场景驱动的产品创意更易成功，先找场景再做产品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开放创新案例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浙商银行“趣发现”创新平台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背景：互联网化产品创新平台建设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做法：众包创意+员工创新激励机制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成效：持续产出高质量创意，创新效率提升50%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611880"/>
            <a:ext cx="9875520" cy="731520"/>
          </a:xfrm>
          <a:prstGeom prst="roundRect">
            <a:avLst>
              <a:gd name="adj" fmla="val 7500"/>
            </a:avLst>
          </a:prstGeom>
          <a:solidFill>
            <a:srgbClr val="FFF8E1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65760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关键启示：开放创新机制激发组织活力，让每个员工成为创新者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10360152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1887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ED7D31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小组创意实战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选择一个银行产品场景，运用VOC方法发现3个产品创意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使用创意评分矩阵筛选最优方案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每组10分钟，小组分享筛选结果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1274552" cy="4114800"/>
          </a:xfrm>
          <a:prstGeom prst="roundRect">
            <a:avLst>
              <a:gd name="adj" fmla="val 3333"/>
            </a:avLst>
          </a:prstGeom>
          <a:solidFill>
            <a:srgbClr val="F0F4FA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0116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产品商业论证与上市策略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0" y="31089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商业论证四要素 → 产品质量屋 → AI赋能营销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商业论证四要素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2041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用户需求分析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0413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识别真实需求vs伪需求，验证需求真实性与付费意愿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4438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4438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3687318" y="1554480"/>
            <a:ext cx="2041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竞争者分析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87318" y="2011680"/>
            <a:ext cx="20413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直接竞争者与间接竞争者分析，找出差异化空间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7356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7356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6460236" y="1554480"/>
            <a:ext cx="2041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销售预测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60236" y="2011680"/>
            <a:ext cx="20413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市场规模×渗透率预测，自上而下与自下而上结合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0274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0274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9" name="Text 17"/>
          <p:cNvSpPr/>
          <p:nvPr/>
        </p:nvSpPr>
        <p:spPr>
          <a:xfrm>
            <a:off x="9233154" y="1554480"/>
            <a:ext cx="2041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财务分析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33154" y="2011680"/>
            <a:ext cx="20413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NPV净现值、IRR内部收益率、投资回收期与盈亏平衡点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需求与竞争分析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用户需求分析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Kano模型：基本型/期望型/兴奋型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MVP测试与用户反馈验证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需求层次分解与优先级排序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竞争者分析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直接竞争者：同类产品对比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间接竞争者：替代方案分析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竞争优势与差异化定位评估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销售预测与财务分析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销售预测方法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自上而下：市场规模×渗透率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自下而上：客户数×客单价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情景分析：乐观/中性/悲观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财务分析指标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NPV净现值：项目价值评估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IRR内部收益率：投资回报衡量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投资回收期与盈亏平衡点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产品质量屋分析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335024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28016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客户需求（左墙）：用户话语表达的需求列表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642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原始需求的结构化梳理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39696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08483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技术特性（屋顶）：产品技术参数与指标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技术实现的关键维度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4436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889504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关系矩阵：需求与特性的关联强度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273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强/中/弱关联映射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694176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目标值设定：量化技术指标与竞品对标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07822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确保技术实现满足客户需求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营销策略自动化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E6F0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OpenClaw智能体在营销策略自动化生成中的应用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6517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基于产品特性与目标客群，OpenClaw自动生成差异化营销策略与执行方案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价值说明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46634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缩短策略制定周期60%，多渠道策略并行生成，提升精准度与一致性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模块一回顾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0F4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1492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商业模式分析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掌握结构化新产品开发过程，学会关口管理与价值主张设计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04438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0F4FA"/>
          </a:solidFill>
          <a:ln/>
        </p:spPr>
      </p:sp>
      <p:sp>
        <p:nvSpPr>
          <p:cNvPr id="11" name="Shape 9"/>
          <p:cNvSpPr/>
          <p:nvPr/>
        </p:nvSpPr>
        <p:spPr>
          <a:xfrm>
            <a:off x="3504438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3641598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35958" y="1600200"/>
            <a:ext cx="1492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创意发现筛选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41598" y="214884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学会模糊前端管理、VOC采集、组合管理三要素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7356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0F4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77356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6414516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08876" y="1600200"/>
            <a:ext cx="1492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商业论证上市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4516" y="214884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掌握商业论证四要素与质量屋分析方法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50274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0F4FA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0274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2" name="Text 20"/>
          <p:cNvSpPr/>
          <p:nvPr/>
        </p:nvSpPr>
        <p:spPr>
          <a:xfrm>
            <a:off x="9187434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781794" y="1600200"/>
            <a:ext cx="1492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AI赋能实践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7434" y="214884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DeepSeek数据分析+客户筛选，OpenClaw营销策略自动化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943600" y="20116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金融客户洞察与精益产品需求分析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0" y="34747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 → 用户洞察 → 精益需求管理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0" y="438912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1274552" cy="4114800"/>
          </a:xfrm>
          <a:prstGeom prst="roundRect">
            <a:avLst>
              <a:gd name="adj" fmla="val 3333"/>
            </a:avLst>
          </a:prstGeom>
          <a:solidFill>
            <a:srgbClr val="F0F4FA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0116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客户数据分析与精准画像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0" y="31089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全方位数据采集 → 价值模型 → 画像维度设计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全方位采集客户金融数据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335024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28016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交易数据：消费、转账、理财、贷款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642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核心业务数据是客户理解的基石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39696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08483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行为数据：App使用、点击、浏览、停留时间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反映客户偏好与意图的关键信号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4436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889504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渠道数据：线上、线下触点与交互记录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273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全渠道视角理解客户体验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694176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外部数据：征信、社交、地理、共享数据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07822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补充内部数据的盲区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建立银行客户价值模型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RFM模型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最近消费时间(R)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消费频次(F)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消费金额(M)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28744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8744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4611624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CLV客户生命周期价值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1624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预测客户未来贡献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指导资源分配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识别高价值客户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5968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5968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8308848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客户价值分层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8848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高价值→潜力→普通→低价值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分层运营策略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动态监测价值迁移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客户画像维度设计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335024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28016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基础属性：年龄、性别、职业、学历、婚姻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642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静态属性描述客户基本轮廓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39696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08483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财务状况：收入、资产、负债、信用评分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金融核心维度，决定产品匹配度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4436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889504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行为偏好：渠道偏好、产品偏好、消费习惯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273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动态维度描述客户行为模式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694176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风险偏好：保守型、稳健型、积极型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07822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风险承受能力决定产品配置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客户画像四维度框架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475738" cy="3200400"/>
          </a:xfrm>
          <a:prstGeom prst="roundRect">
            <a:avLst>
              <a:gd name="adj" fmla="val 2955"/>
            </a:avLst>
          </a:prstGeom>
          <a:solidFill>
            <a:srgbClr val="F0F4FA"/>
          </a:solidFill>
          <a:ln w="9525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基础属性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229285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年龄/性别/职业/学历/婚姻/地域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静态轮廓描绘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7258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81578" y="1645920"/>
            <a:ext cx="2475738" cy="3200400"/>
          </a:xfrm>
          <a:prstGeom prst="roundRect">
            <a:avLst>
              <a:gd name="adj" fmla="val 2955"/>
            </a:avLst>
          </a:prstGeom>
          <a:solidFill>
            <a:srgbClr val="F0F4FA"/>
          </a:solidFill>
          <a:ln w="9525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3018" y="1783080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财务状况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73018" y="2240280"/>
            <a:ext cx="229285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收入/资产/负债/信用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金融核心维度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57316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31636" y="1645920"/>
            <a:ext cx="2475738" cy="3200400"/>
          </a:xfrm>
          <a:prstGeom prst="roundRect">
            <a:avLst>
              <a:gd name="adj" fmla="val 2955"/>
            </a:avLst>
          </a:prstGeom>
          <a:solidFill>
            <a:srgbClr val="F0F4FA"/>
          </a:solidFill>
          <a:ln w="9525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3076" y="1783080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行为偏好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23076" y="2240280"/>
            <a:ext cx="229285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渠道/产品/消费习惯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动态行为模式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07374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81694" y="1645920"/>
            <a:ext cx="2475738" cy="3200400"/>
          </a:xfrm>
          <a:prstGeom prst="roundRect">
            <a:avLst>
              <a:gd name="adj" fmla="val 2955"/>
            </a:avLst>
          </a:prstGeom>
          <a:solidFill>
            <a:srgbClr val="F0F4FA"/>
          </a:solidFill>
          <a:ln w="9525">
            <a:solidFill>
              <a:srgbClr val="447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3134" y="1783080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73134" y="2240280"/>
            <a:ext cx="229285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保守/稳健/积极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风险承受能力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客户画像赋能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E6F0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DeepSeek客户画像模型搭建实操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6517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利用DeepSeek输入客户多源数据，自动融合并生成标签体系与客户画像模型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价值说明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46634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画像精度提升50%，标签体系构建时间从2周缩短至2天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客户画像实践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民生银行客户画像体系建设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背景：全行级客户画像体系建设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做法：千人千面的精准营销体系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成效：营销转化率提升35%，客户流失率下降20%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611880"/>
            <a:ext cx="9875520" cy="731520"/>
          </a:xfrm>
          <a:prstGeom prst="roundRect">
            <a:avLst>
              <a:gd name="adj" fmla="val 7500"/>
            </a:avLst>
          </a:prstGeom>
          <a:solidFill>
            <a:srgbClr val="FFF8E1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65760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关键启示：画像体系需要持续迭代优化，而非一次性建设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渐进式画像建设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某城商行客户画像分析三步法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Step1：数据采集与清洗，建立基础数据源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Step2：标签体系搭建，设计分层分类标签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Step3：画像应用与迭代，在实践中持续优化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611880"/>
            <a:ext cx="9875520" cy="731520"/>
          </a:xfrm>
          <a:prstGeom prst="roundRect">
            <a:avLst>
              <a:gd name="adj" fmla="val 7500"/>
            </a:avLst>
          </a:prstGeom>
          <a:solidFill>
            <a:srgbClr val="FFF8E1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65760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关键启示：渐进式建设比一步到位更可行，先小后大、先简后细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10360152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1887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ED7D31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画像维度设计实战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针对您所在银行的客户群，哪些画像维度最有价值？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设计一个客户画像标签体系框架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讨论：如何确保数据质量与标签准确性？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1274552" cy="4114800"/>
          </a:xfrm>
          <a:prstGeom prst="roundRect">
            <a:avLst>
              <a:gd name="adj" fmla="val 3333"/>
            </a:avLst>
          </a:prstGeom>
          <a:solidFill>
            <a:srgbClr val="F0F4FA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0116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用户洞察与场景分析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0" y="31089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用户场景 → 行为旅程 → 产品愿景与架构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用户场景分析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识别用户角色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主要用户、次要用户、决策者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明确谁是产品的使用者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28744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8744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4611624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场景识别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1624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时间、地点、动机、行为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用户在什么情境下使用？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5968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5968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8308848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角色任务分析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8848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核心任务vs辅助任务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任务执行路径与障碍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角色与任务分析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场景角色分析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不同角色的需求差异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角色间的交互关系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多角色场景的覆盖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角色任务分析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核心任务与辅助任务划分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任务执行路径与关键节点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任务障碍与痛点识别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用户行为旅程图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335024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28016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触发→认知→比较→申请→使用→续用/流失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642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全生命周期视角的用户体验可视化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39696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08483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每个阶段：用户行为、情感、痛点、机会点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全方位理解用户体验与需求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4436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889504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情感曲线：可视化用户情绪波动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273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识别体验高峰与低谷，找到干预时机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694176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关键触点与干预时机识别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07822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在关键时刻提供最佳体验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人物画像与洞察矩阵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人物画像(Persona)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典型用户的抽象与具象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姓名、背景、目标、痛点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团队共识的用户代言人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用户洞察矩阵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用户说、做、想、感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表面需求vs深层动机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行为背后的真实原因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产品愿景与产品架构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产品愿景说明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目标用户、核心需求、产品类别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核心收益与竞品差异化定位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指导产品方向的北斗星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产品架构设计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核心功能模块划分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功能优先级与依赖关系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最小可行产品(MVP)定义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产品路线图规划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061972" y="1828800"/>
            <a:ext cx="914400" cy="9144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2061972" y="1920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575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短期(0-3月)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核心功能上线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32504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637276" y="1828800"/>
            <a:ext cx="914400" cy="9144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5637276" y="1920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06824" y="2926080"/>
            <a:ext cx="3575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中期(3-6月)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功能扩展与优化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07808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212580" y="1828800"/>
            <a:ext cx="914400" cy="9144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9212580" y="1920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882128" y="2926080"/>
            <a:ext cx="3575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长期(6-12月)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生态构建与增长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客户生命周期管理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E6F0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DeepSeek驱动的客户生命周期管理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6517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自动识别客户所处生命周期阶段，生成针对性转化策略与流失预警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价值说明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46634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精细化运营提升客户保有率‘18%，流失预警准确率达85%+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深度洞察案例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招商银行洞察客户需求全过程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背景：以客户为中心的深度洞察体系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做法：多维度数据+深度访谈+场景观察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成效：产品设计精准命中客户需求，转化提升30%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611880"/>
            <a:ext cx="9875520" cy="731520"/>
          </a:xfrm>
          <a:prstGeom prst="roundRect">
            <a:avLst>
              <a:gd name="adj" fmla="val 7500"/>
            </a:avLst>
          </a:prstGeom>
          <a:solidFill>
            <a:srgbClr val="FFF8E1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65760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关键启示：深度洞察是产品成功的基石，数据+访谈缺一不可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旅程图应用案例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招商银行用户旅程图实践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背景：全流程用户旅程可视化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做法：关键触点识别与体验优化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成效：客户满意度提升20%，转化率提升25%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611880"/>
            <a:ext cx="9875520" cy="731520"/>
          </a:xfrm>
          <a:prstGeom prst="roundRect">
            <a:avLst>
              <a:gd name="adj" fmla="val 7500"/>
            </a:avLst>
          </a:prstGeom>
          <a:solidFill>
            <a:srgbClr val="FFF8E1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65760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关键启示：旅程图是发现产品机会的有效工具，关键在于可视化与团队共识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10360152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1887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ED7D31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用户旅程图绘制实战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选择一个银行产品，绘制用户旅程图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标注每个阶段的用户情感、痛点和机会点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小组分享：发现了哪些关键改进机会？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1274552" cy="4114800"/>
          </a:xfrm>
          <a:prstGeom prst="roundRect">
            <a:avLst>
              <a:gd name="adj" fmla="val 3333"/>
            </a:avLst>
          </a:prstGeom>
          <a:solidFill>
            <a:srgbClr val="F0F4FA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0116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精益产品需求分析与管理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0" y="31089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需求框架 → 启发技术 → 优先级排序 → 确认核实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需求管理框架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产品要做什么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业务功能与用户功能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精确定义产品边界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28744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8744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4611624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非功能需求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1624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性能、安全、可用性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系统级质量属性要求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合规与风控约束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5968" y="137160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5968" y="1371600"/>
            <a:ext cx="3331464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8308848" y="1554480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设计约束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8848" y="2011680"/>
            <a:ext cx="2965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技术、合规、资源限制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不可协商的边界条件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三者平衡：质量与效率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需求启发技术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335024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28016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原型法：快速可视化产品概念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642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低保真实产品体验，快速获取反馈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39696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08483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故事板：场景化的需求表达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可视化用户使用场景与流程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4436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889504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线框图：结构与交互的可视化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273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低保真产品布局，验证交互逻辑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694176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用户故事：从用户视角描述需求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07822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作为某…我要…以便…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需求优先级排序方法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MoSCoW法则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Must have：必须具备的核心功能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Should have：重要但可延后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Could have：有则更好的加分项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552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Won't have：本期不纳入的功能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价值-复杂度矩阵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高价值低复杂度：优先做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高价值高复杂度：计划做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低价值低复杂度：选做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2552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低价值高复杂度：不做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需求确认与核实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335024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28016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需求跟踪矩阵：需求→设计→开发→测试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642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确保每个需求可追溯、可验证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39696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08483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关系与依赖性分析：需求间的关联梳理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识别冲突与约束，避免遗漏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4436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889504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需求变更管理：变更影响评估与控制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273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规范化变更流程，控制范围蔓延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694176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验收标准：可量化、可验证的完成条件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07822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每个需求都有明确的验收标准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业务需求与技术需求桥接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Why：业务目标与价值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商业逻辑与成功标准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可量化的业务指标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How：技术方案与实现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系统架构与接口设计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性能与安全要求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融合创新案例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广发银行智能支付手环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背景：可穿戴设备的金融创新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做法：需求分析→原型→迭代开发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成效：差异化产品获市场认可，开创支付新场景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611880"/>
            <a:ext cx="9875520" cy="731520"/>
          </a:xfrm>
          <a:prstGeom prst="roundRect">
            <a:avLst>
              <a:gd name="adj" fmla="val 7500"/>
            </a:avLst>
          </a:prstGeom>
          <a:solidFill>
            <a:srgbClr val="FFF8E1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65760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关键启示：硬件+金融的融合创新需要精益需求管理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业技融合案例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银联业技融合实践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背景：业务与技术的鸿沟问题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做法：业务需求与技术实现的双向映射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成效：需求交付质量显著提升，返工率下降40%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611880"/>
            <a:ext cx="9875520" cy="731520"/>
          </a:xfrm>
          <a:prstGeom prst="roundRect">
            <a:avLst>
              <a:gd name="adj" fmla="val 7500"/>
            </a:avLst>
          </a:prstGeom>
          <a:solidFill>
            <a:srgbClr val="FFF8E1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65760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关键启示：业技融合是数字化转型的关键，需要双向理解与协作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全生命周期案例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4846320"/>
          </a:xfrm>
          <a:prstGeom prst="roundRect">
            <a:avLst>
              <a:gd name="adj" fmla="val 188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汇丰银行需求全生命周期管理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背景：全球化的需求管理挑战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做法：标准化需求全生命周期流程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成效：跨区域协同效率大幅提升，交付周期缩短30%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611880"/>
            <a:ext cx="9875520" cy="731520"/>
          </a:xfrm>
          <a:prstGeom prst="roundRect">
            <a:avLst>
              <a:gd name="adj" fmla="val 7500"/>
            </a:avLst>
          </a:prstGeom>
          <a:solidFill>
            <a:srgbClr val="FFF8E1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65760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关键启示：标准化流程是规模化需求管理的基础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模块二回顾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0F4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1492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客户数据分析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掌握全方位数据采集与客户精准画像方法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04438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0F4FA"/>
          </a:solidFill>
          <a:ln/>
        </p:spPr>
      </p:sp>
      <p:sp>
        <p:nvSpPr>
          <p:cNvPr id="11" name="Shape 9"/>
          <p:cNvSpPr/>
          <p:nvPr/>
        </p:nvSpPr>
        <p:spPr>
          <a:xfrm>
            <a:off x="3504438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3641598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35958" y="1600200"/>
            <a:ext cx="1492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41598" y="214884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学会场景分析、旅程图、人物画像与洞察矩阵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7356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0F4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77356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6414516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08876" y="1600200"/>
            <a:ext cx="1492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精益需求管理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4516" y="214884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建立功能/非功能/约束三维需求框架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50274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0F4FA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0274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2" name="Text 20"/>
          <p:cNvSpPr/>
          <p:nvPr/>
        </p:nvSpPr>
        <p:spPr>
          <a:xfrm>
            <a:off x="9187434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781794" y="1600200"/>
            <a:ext cx="1492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AI赋能实践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7434" y="214884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DeepSeek客户画像+生命周期管理实操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87552"/>
            <a:ext cx="182880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0F4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1492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商业模式分析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结构化开发过程、关口管理、价值主张、商业论证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04438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0F4FA"/>
          </a:solidFill>
          <a:ln/>
        </p:spPr>
      </p:sp>
      <p:sp>
        <p:nvSpPr>
          <p:cNvPr id="11" name="Shape 9"/>
          <p:cNvSpPr/>
          <p:nvPr/>
        </p:nvSpPr>
        <p:spPr>
          <a:xfrm>
            <a:off x="3504438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3641598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35958" y="1600200"/>
            <a:ext cx="1492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客户洞察体系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41598" y="214884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客户画像、场景分析、旅程图、洞察矩阵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7356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0F4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77356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6414516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08876" y="1600200"/>
            <a:ext cx="1492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需求管理闭环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4516" y="214884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功能需求、优先级排序、确认核实、业技融合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50274" y="1371600"/>
            <a:ext cx="2407158" cy="2286000"/>
          </a:xfrm>
          <a:prstGeom prst="roundRect">
            <a:avLst>
              <a:gd name="adj" fmla="val 3200"/>
            </a:avLst>
          </a:prstGeom>
          <a:solidFill>
            <a:srgbClr val="F0F4FA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0274" y="1371600"/>
            <a:ext cx="2407158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2" name="Text 20"/>
          <p:cNvSpPr/>
          <p:nvPr/>
        </p:nvSpPr>
        <p:spPr>
          <a:xfrm>
            <a:off x="9187434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781794" y="1600200"/>
            <a:ext cx="1492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AI赋能实践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7434" y="214884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DeepSeek数据分析、客户筛选、OpenClaw智能体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10360152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1887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ED7D31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开放问答与经验分享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您在实际工作中遇到的最大挑战是什么？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哪个工具或方法您最想立即尝试？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制定您的行动计划：本周尝试一个AI工具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感谢参与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0" y="4389120"/>
            <a:ext cx="2130552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7548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讲师：于兆鹏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金融产品商业模式分析与客户洞察实战</dc:title>
  <dc:subject>AI赋能下的银行产品经理能力进阶</dc:subject>
  <dc:creator>于兆鹏</dc:creator>
  <cp:lastModifiedBy>于兆鹏</cp:lastModifiedBy>
  <cp:revision>1</cp:revision>
  <dcterms:created xsi:type="dcterms:W3CDTF">2026-06-28T14:12:27Z</dcterms:created>
  <dcterms:modified xsi:type="dcterms:W3CDTF">2026-06-28T14:12:27Z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D55U9H0F10002","ProduceID":"38adcd6e-f51c-451c-8c04-c7c8717e4386","ReservedCode1":"c8c44082-d1bd-466c-991d-4cb46502e8fd","ContentPropagator":"001191110102MAD55U9H0F10002","PropagateID":"38adcd6e-f51c-451c-8c04-c7c8717e4386","ReservedCode2":"c8c44082-d1bd-466c-991d-4cb46502e8fd"}</vt:lpwstr>
  </property>
</Properties>
</file>