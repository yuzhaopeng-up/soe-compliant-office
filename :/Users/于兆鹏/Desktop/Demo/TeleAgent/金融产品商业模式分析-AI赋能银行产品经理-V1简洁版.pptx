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60520"/>
            <a:ext cx="12188952" cy="365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赋能下的银行产品经理能力进阶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1天工作坊  |  银行产品经理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0725912" cy="1920240"/>
          </a:xfrm>
          <a:prstGeom prst="rect">
            <a:avLst>
              <a:gd name="adj" fmla="val 4762"/>
            </a:avLst>
          </a:prstGeom>
          <a:solidFill>
            <a:srgbClr val="E7E6E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36576" cy="1188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商业模式概述 / 创意发现与筛选 / 商业论证与上市策略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0725912" cy="1920240"/>
          </a:xfrm>
          <a:prstGeom prst="rect">
            <a:avLst>
              <a:gd name="adj" fmla="val 4762"/>
            </a:avLst>
          </a:prstGeom>
          <a:solidFill>
            <a:srgbClr val="E7E6E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23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2560320" y="4114800"/>
            <a:ext cx="36576" cy="1188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4069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金融客户洞察与精益需求分析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26080" y="4754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 / 用户洞察与场景 / 精益需求管理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0" y="2468880"/>
            <a:ext cx="2130552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5176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商业模式概述  ·  创意发现与筛选  ·  商业论证与上市策略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结构化新产品开发过程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291840" cy="2377440"/>
          </a:xfrm>
          <a:prstGeom prst="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291840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阶段划分与关口评审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Go/Kill/Hold决策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投资与风险平衡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291840" cy="2377440"/>
          </a:xfrm>
          <a:prstGeom prst="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371600"/>
            <a:ext cx="3291840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阶段划分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0116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创意→论证→开发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→测试→上市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每阶段可交付成果明确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593592" cy="2377440"/>
          </a:xfrm>
          <a:prstGeom prst="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1371600"/>
            <a:ext cx="3593592" cy="54864"/>
          </a:xfrm>
          <a:prstGeom prst="rect">
            <a:avLst>
              <a:gd name="adj" fmla="val 133333"/>
            </a:avLst>
          </a:prstGeom>
          <a:solidFill>
            <a:srgbClr val="70AD47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5544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管理角色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92440" y="201168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产品经理：全程驱动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关口评审委员会：决策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高管：资源与战略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3474720" cy="1645920"/>
          </a:xfrm>
          <a:prstGeom prst="rect">
            <a:avLst>
              <a:gd name="adj" fmla="val 4444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新产品失败率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4114800"/>
            <a:ext cx="3474720" cy="1645920"/>
          </a:xfrm>
          <a:prstGeom prst="rect">
            <a:avLst>
              <a:gd name="adj" fmla="val 4444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4206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3x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48056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结构化方法提升成功率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4114800"/>
            <a:ext cx="3227832" cy="1645920"/>
          </a:xfrm>
          <a:prstGeom prst="rect">
            <a:avLst>
              <a:gd name="adj" fmla="val 4444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20624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229600" y="493776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关键关口数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从模糊前端到客户之声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725912" cy="1097280"/>
          </a:xfrm>
          <a:prstGeom prst="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  →  客户之声  →  价值主张设计  →  商业模式决策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从不确定的需求线索，到结构化的商业模式，核心是"听懂客户、创造价值"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239512" cy="219456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43200"/>
            <a:ext cx="5239512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26080"/>
            <a:ext cx="4782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模糊前端（Fuzzy Front End）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4782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早期创意的非结构化阶段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高不确定性、高机会窗口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识别市场信号与趋势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次级研究+主要研究方法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2743200"/>
            <a:ext cx="5212080" cy="219456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45352" y="2743200"/>
            <a:ext cx="5212080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客户之声（VOC）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383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倾听客户真实需求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洞察隐性痛点与期望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定量研究+定性研究结合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深度访谈/问卷/行为数据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10725912" cy="1005840"/>
          </a:xfrm>
          <a:prstGeom prst="rect">
            <a:avLst>
              <a:gd name="adj" fmla="val 7273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49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5349240"/>
            <a:ext cx="9171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DeepSeek行业数据智能分析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760720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AI自动采集行业数据，生成竞争格局图谱与市场规模预测，辅助商业模式决策。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价值主张设计核心要素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3017520"/>
          </a:xfrm>
          <a:prstGeom prst="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客户收益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功能性收益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情感性收益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社会性收益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成本节约收益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212080" cy="3017520"/>
          </a:xfrm>
          <a:prstGeom prst="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资金成本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时间成本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学习成本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转换成本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663440"/>
            <a:ext cx="10725912" cy="1554480"/>
          </a:xfrm>
          <a:prstGeom prst="rect">
            <a:avLst>
              <a:gd name="adj" fmla="val 470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产品-市场匹配（PMF）验证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痛点缓解 + 增益创造 &gt; 客户总成本  →  价值主张成立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反复验证，直到客户愿意为之付费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案例：某城商行客户行为特征分析体系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725912" cy="3931920"/>
          </a:xfrm>
          <a:prstGeom prst="rect">
            <a:avLst>
              <a:gd name="adj" fmla="val 1860"/>
            </a:avLst>
          </a:prstGeom>
          <a:solidFill>
            <a:srgbClr val="FFF4E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某城商行客户行为特征分析体系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0725912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46888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246888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标签体系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246888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09760" y="246888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效果评估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3840480"/>
            <a:ext cx="301752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09728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产品匹配精准度提升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840480"/>
            <a:ext cx="301752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57200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客户留存率提高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3840480"/>
            <a:ext cx="301752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8周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04672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体系落地周期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产品创意发现与筛选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29184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291840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模糊前端+客户之声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次级研究+主要研究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定性与定量结合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29184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371600"/>
            <a:ext cx="3291840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011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制定评审条件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阶段1：创意提取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可行性初筛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593592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1371600"/>
            <a:ext cx="3593592" cy="54864"/>
          </a:xfrm>
          <a:prstGeom prst="rect">
            <a:avLst>
              <a:gd name="adj" fmla="val 133333"/>
            </a:avLst>
          </a:prstGeom>
          <a:solidFill>
            <a:srgbClr val="70AD47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5544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组合筛选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92440" y="201168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战略一致性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组合平衡三要素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10725912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组合管理三要素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资源分配：投入与回报最大化  |  战略一致性：与银行战略方向对齐  |  组合平衡：短期收益与长期创新兼顾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725912" cy="1097280"/>
          </a:xfrm>
          <a:prstGeom prst="rect">
            <a:avLst>
              <a:gd name="adj" fmla="val 6667"/>
            </a:avLst>
          </a:prstGeom>
          <a:solidFill>
            <a:srgbClr val="EB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257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5257800"/>
            <a:ext cx="9171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DeepSeek驱动市场细分与目标客户筛选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669280"/>
            <a:ext cx="10268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AI自动分析市场数据，生成客户分群策略，识别高价值客群，创意筛选效率提升60%。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案例：中信银行与浙商银行创意实践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3200400"/>
          </a:xfrm>
          <a:prstGeom prst="rect">
            <a:avLst>
              <a:gd name="adj" fmla="val 2286"/>
            </a:avLst>
          </a:prstGeom>
          <a:solidFill>
            <a:srgbClr val="FFF4E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中信银行二维码支付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457200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客户场景洞察发现支付痛点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快速迭代3个月上线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用户破千万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场景化金融入口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371600"/>
            <a:ext cx="5212080" cy="3200400"/>
          </a:xfrm>
          <a:prstGeom prst="rect">
            <a:avLst>
              <a:gd name="adj" fmla="val 2286"/>
            </a:avLst>
          </a:prstGeom>
          <a:solidFill>
            <a:srgbClr val="FFF4E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浙商银行"趣发现"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457200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860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UGC社区收集客户创意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用户参与产品共创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创意转化为产品功能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开放银行生态探索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10725912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983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440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场景洞察驱动创意发现，客户参与推动产品创新，快速验证缩短上市周期。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产品商业论证四要素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2316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423160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用户需求分析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痛点识别与需求挖掘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目标客群定义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42316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371600"/>
            <a:ext cx="2423160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竞争者分析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9659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对标研究与差异化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竞争格局研判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242316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17520"/>
            <a:ext cx="2423160" cy="54864"/>
          </a:xfrm>
          <a:prstGeom prst="rect">
            <a:avLst>
              <a:gd name="adj" fmla="val 133333"/>
            </a:avLst>
          </a:prstGeom>
          <a:solidFill>
            <a:srgbClr val="70AD4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销售预测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市场规模与渗透率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增长预估模型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017520"/>
            <a:ext cx="242316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3017520"/>
            <a:ext cx="2423160" cy="54864"/>
          </a:xfrm>
          <a:prstGeom prst="rect">
            <a:avLst>
              <a:gd name="adj" fmla="val 133333"/>
            </a:avLst>
          </a:prstGeom>
          <a:solidFill>
            <a:srgbClr val="FFC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36118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ROI测算与盈亏平衡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投入回报评估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371600"/>
            <a:ext cx="5056632" cy="3017520"/>
          </a:xfrm>
          <a:prstGeom prst="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商业论证决策逻辑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0116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需求→竞争→预测→财务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四要素环环相扣，任一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环节不通过即终止投资，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避免沉没成本陷阱。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725912" cy="1371600"/>
          </a:xfrm>
          <a:prstGeom prst="rect">
            <a:avLst>
              <a:gd name="adj" fmla="val 5333"/>
            </a:avLst>
          </a:prstGeom>
          <a:solidFill>
            <a:srgbClr val="EB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892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4892040"/>
            <a:ext cx="9171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OpenClaw智能体在营销策略自动化生成中的应用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5303520"/>
            <a:ext cx="10268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智能体自动分析竞品与市场数据，生成营销策略建议，策略制定周期从2周缩短至3天。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产品质量屋（QFD）分析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2743200"/>
          </a:xfrm>
          <a:prstGeom prst="rect">
            <a:avLst>
              <a:gd name="adj" fmla="val 266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 → 设计参数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收集客户需求（WHAT）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转化为设计参数（HOW）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构建关系矩阵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竞品对比与目标值设定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技术相关性分析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212080" cy="2743200"/>
          </a:xfrm>
          <a:prstGeom prst="rect">
            <a:avLst>
              <a:gd name="adj" fmla="val 266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质量屋核心价值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确保产品设计与客户期望一致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降低需求偏差风险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量化需求优先级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跨部门沟通通用语言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可追溯的需求转化过程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725912" cy="1463040"/>
          </a:xfrm>
          <a:prstGeom prst="rect">
            <a:avLst>
              <a:gd name="adj" fmla="val 5000"/>
            </a:avLst>
          </a:prstGeom>
          <a:solidFill>
            <a:srgbClr val="FFF4E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某银行理财产品QFD实践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892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将客户对"收益安全性"和"流动性"的需求转化为产品期限、风控阈值等设计参数，产品满意度提升20%。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模块一核心要点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结构化开发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关口管理+阶段划分，降低新产品失败率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8408" y="201168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商业模式框架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模糊前端→VOC→价值主张，系统化决策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8408" y="297180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创意筛选三步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657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发现→筛选→组合管理，三要素平衡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8408" y="393192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商业论证四要素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需求+竞争+预测+财务，全面评估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8408" y="489204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AI赋能提效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577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DeepSeek+OpenClaw，数据分析与策略自动化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0" y="2468880"/>
            <a:ext cx="2130552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5176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金融客户洞察与精益需求分析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  ·  用户洞察与场景分析  ·  精益需求管理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客户数据分析与精准画像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23160" cy="2011680"/>
          </a:xfrm>
          <a:prstGeom prst="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554480"/>
            <a:ext cx="868680" cy="8686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54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基础属性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年龄/性别/职业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地域/教育水平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371600"/>
            <a:ext cx="2423160" cy="2011680"/>
          </a:xfrm>
          <a:prstGeom prst="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554480"/>
            <a:ext cx="868680" cy="86868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554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财务状况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资产规模/收入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负债/投资偏好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423160" cy="2011680"/>
          </a:xfrm>
          <a:prstGeom prst="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54480"/>
            <a:ext cx="868680" cy="8686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554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行为偏好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渠道偏好/交易频次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产品使用/活跃度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371600"/>
            <a:ext cx="2423160" cy="2011680"/>
          </a:xfrm>
          <a:prstGeom prst="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0" y="1554480"/>
            <a:ext cx="868680" cy="8686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1554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风险承受能力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投资期限/目标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10725912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客户价值模型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当前价值 × 未来潜力 = 客户价值评分，驱动差异化服务策略与资源分配。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303520"/>
            <a:ext cx="10725912" cy="914400"/>
          </a:xfrm>
          <a:prstGeom prst="rect">
            <a:avLst>
              <a:gd name="adj" fmla="val 8000"/>
            </a:avLst>
          </a:prstGeom>
          <a:solidFill>
            <a:srgbClr val="EB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440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5440680"/>
            <a:ext cx="9171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DeepSeek客户画像模型搭建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5852160"/>
            <a:ext cx="10268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多源数据融合建模，特征工程自动提取，画像标签动态更新，客群细分智能推荐。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案例：民生银行与某城商行画像实践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3474720"/>
          </a:xfrm>
          <a:prstGeom prst="rect">
            <a:avLst>
              <a:gd name="adj" fmla="val 2105"/>
            </a:avLst>
          </a:prstGeom>
          <a:solidFill>
            <a:srgbClr val="FFF4E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民生银行客户画像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457200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整合线上线下数据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构建360°客户视图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精准营销转化率提升28%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客户流失率降低15%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千人千面产品推荐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371600"/>
            <a:ext cx="5212080" cy="3474720"/>
          </a:xfrm>
          <a:prstGeom prst="rect">
            <a:avLst>
              <a:gd name="adj" fmla="val 2105"/>
            </a:avLst>
          </a:prstGeom>
          <a:solidFill>
            <a:srgbClr val="FFF4E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某城商行画像三步法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457200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23774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108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23774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66960" y="23774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0" y="3108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566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快速落地客户画像体系，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实现数据驱动的精准营销。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120640"/>
            <a:ext cx="10725912" cy="1005840"/>
          </a:xfrm>
          <a:prstGeom prst="rect">
            <a:avLst>
              <a:gd name="adj" fmla="val 7273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257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623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数据整合是基础，画像维度要贴合业务场景，关键是形成"采集-建模-应用"闭环。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用户洞察与场景分析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场景识别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用户角色分析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场景角色定位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246888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371600"/>
            <a:ext cx="24688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旅程地图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行为路径追踪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情感曲线分析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机会点识别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246888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371600"/>
            <a:ext cx="24688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洞察矩阵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人物画像构建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痛点聚类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1371600"/>
            <a:ext cx="246888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1371600"/>
            <a:ext cx="24688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产品规划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愿景说明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474720"/>
            <a:ext cx="10725912" cy="1097280"/>
          </a:xfrm>
          <a:prstGeom prst="rect">
            <a:avLst>
              <a:gd name="adj" fmla="val 6667"/>
            </a:avLst>
          </a:prstGeom>
          <a:solidFill>
            <a:srgbClr val="EB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611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611880"/>
            <a:ext cx="9171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DeepSeek客户生命周期管理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023360"/>
            <a:ext cx="10268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生命周期阶段自动识别，流失预警与干预策略，交叉销售时机推荐，全旅程触点优化。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用户行为旅程图分析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2286000"/>
          </a:xfrm>
          <a:prstGeom prst="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用户角色识别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主要用户：直接使用者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次要用户：间接影响者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利益相关者：决策影响者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场景角色：特定场景下的身份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212080" cy="2286000"/>
          </a:xfrm>
          <a:prstGeom prst="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角色任务分析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核心任务：用户必须完成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辅助任务：帮助核心任务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情感需求：体验与感受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机会识别：痛点=产品机会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725912" cy="2103120"/>
          </a:xfrm>
          <a:prstGeom prst="rect">
            <a:avLst>
              <a:gd name="adj" fmla="val 3478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用户情感曲线与机会点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1371600" cy="365760"/>
          </a:xfrm>
          <a:prstGeom prst="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4572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4572000"/>
            <a:ext cx="1371600" cy="365760"/>
          </a:xfrm>
          <a:prstGeom prst="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278892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4572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4572000"/>
            <a:ext cx="1371600" cy="365760"/>
          </a:xfrm>
          <a:prstGeom prst="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4572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4572000"/>
            <a:ext cx="1371600" cy="365760"/>
          </a:xfrm>
          <a:prstGeom prst="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满意/不满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43800" y="4572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63840" y="4572000"/>
            <a:ext cx="1371600" cy="365760"/>
          </a:xfrm>
          <a:prstGeom prst="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忠诚/犹豫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35440" y="4572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55480" y="4572000"/>
            <a:ext cx="1371600" cy="365760"/>
          </a:xfrm>
          <a:prstGeom prst="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34" name="Text 32"/>
          <p:cNvSpPr/>
          <p:nvPr/>
        </p:nvSpPr>
        <p:spPr>
          <a:xfrm>
            <a:off x="955548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5548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热情/沉默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情感低谷处即为产品优化机会点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人物画像与用户洞察矩阵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2926080"/>
          </a:xfrm>
          <a:prstGeom prst="rect">
            <a:avLst>
              <a:gd name="adj" fmla="val 250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人物画像（Persona）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姓名+照片+背景故事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目标与动机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痛点与挫折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行为模式与偏好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典型场景描述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代表性引用语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212080" cy="2926080"/>
          </a:xfrm>
          <a:prstGeom prst="rect">
            <a:avLst>
              <a:gd name="adj" fmla="val 250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用户洞察矩阵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洞察四象限：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说了什么 / 做了什么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想了什么 / 感受了什么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显性需求 vs 隐性需求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表层行为 vs 深层动机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0725912" cy="1554480"/>
          </a:xfrm>
          <a:prstGeom prst="rect">
            <a:avLst>
              <a:gd name="adj" fmla="val 470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产品愿景说明 → 产品架构 → 产品路线图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120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基于用户洞察，制定产品愿景，构建产品架构，规划分阶段交付路线图，确保产品方向与用户需求一致。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案例：招商银行洞察客户需求全过程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725912" cy="4114800"/>
          </a:xfrm>
          <a:prstGeom prst="rect">
            <a:avLst>
              <a:gd name="adj" fmla="val 1778"/>
            </a:avLst>
          </a:prstGeom>
          <a:solidFill>
            <a:srgbClr val="FFF4E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招商银行客户洞察全流程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1005840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377440"/>
            <a:ext cx="1280160" cy="457200"/>
          </a:xfrm>
          <a:prstGeom prst="rect">
            <a:avLst>
              <a:gd name="adj" fmla="val 12000"/>
            </a:avLst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377440"/>
            <a:ext cx="1280160" cy="457200"/>
          </a:xfrm>
          <a:prstGeom prst="rect">
            <a:avLst>
              <a:gd name="adj" fmla="val 12000"/>
            </a:avLst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1280160" cy="457200"/>
          </a:xfrm>
          <a:prstGeom prst="rect">
            <a:avLst>
              <a:gd name="adj" fmla="val 12000"/>
            </a:avLst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377440"/>
            <a:ext cx="1280160" cy="457200"/>
          </a:xfrm>
          <a:prstGeom prst="rect">
            <a:avLst>
              <a:gd name="adj" fmla="val 12000"/>
            </a:avLst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2377440"/>
            <a:ext cx="1280160" cy="457200"/>
          </a:xfrm>
          <a:prstGeom prst="rect">
            <a:avLst>
              <a:gd name="adj" fmla="val 12000"/>
            </a:avLst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财富管理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0" y="2377440"/>
            <a:ext cx="1280160" cy="457200"/>
          </a:xfrm>
          <a:prstGeom prst="rect">
            <a:avLst>
              <a:gd name="adj" fmla="val 12000"/>
            </a:avLst>
          </a:prstGeom>
          <a:solidFill>
            <a:srgbClr val="4472C4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12个关键触点全链路洞察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371600" y="3566160"/>
            <a:ext cx="274320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客户满意度提升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566160"/>
            <a:ext cx="274320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产品渗透率提升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3566160"/>
            <a:ext cx="274320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9552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交叉销售增长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招行构建从获客到留客的完整用户旅程图，识别关键触点与情感低谷，精准优化体验。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需求分类框架与启发技术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383280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系统应做什么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业务流程与规则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38328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371600"/>
            <a:ext cx="3383280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性能/安全/可用性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质量属性约束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38328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1371600"/>
            <a:ext cx="3383280" cy="54864"/>
          </a:xfrm>
          <a:prstGeom prst="rect">
            <a:avLst>
              <a:gd name="adj" fmla="val 133333"/>
            </a:avLst>
          </a:prstGeom>
          <a:solidFill>
            <a:srgbClr val="70AD4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技术/法规/标准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不可变更的边界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10725912" cy="2286000"/>
          </a:xfrm>
          <a:prstGeom prst="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需求启发技术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301752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160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快速构建交互原型，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用户直接体验反馈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301752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4160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场景化叙事，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可视化用户流程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01752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160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页面结构梳理，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聚焦布局与信息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需求优先级排序与确认跟踪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291840" cy="219456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291840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MoSCoW法则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have：必须实现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Should have：应该有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Could have：可以有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Won't have：暂不需要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291840" cy="219456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371600"/>
            <a:ext cx="3291840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Kano模型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0116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基本型需求：必须满足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期望型需求：更多更好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兴奋型需求：超预期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随时间演变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593592" cy="219456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1371600"/>
            <a:ext cx="3593592" cy="54864"/>
          </a:xfrm>
          <a:prstGeom prst="rect">
            <a:avLst>
              <a:gd name="adj" fmla="val 133333"/>
            </a:avLst>
          </a:prstGeom>
          <a:solidFill>
            <a:srgbClr val="70AD47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5544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价值-复杂度矩阵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92440" y="2011680"/>
            <a:ext cx="3136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高价值低复杂度：优先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高价值高复杂度：规划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低价值低复杂度：可选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低价值高复杂度：放弃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486400" cy="219456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需求确认与跟踪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需求跟踪矩阵（RTM）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需求状态监控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关系与依赖性管理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变更影响分析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端到端可追溯性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3840480"/>
            <a:ext cx="4873752" cy="2194560"/>
          </a:xfrm>
          <a:prstGeom prst="rect">
            <a:avLst>
              <a:gd name="adj" fmla="val 3333"/>
            </a:avLst>
          </a:prstGeom>
          <a:solidFill>
            <a:srgbClr val="EB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 ↔ 技术需求桥接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44348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银联业技融合实践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业务语言←→技术语言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需求跟踪矩阵打通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减少需求理解偏差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案例：广发银行与汇丰银行需求管理实践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3200400"/>
          </a:xfrm>
          <a:prstGeom prst="rect">
            <a:avLst>
              <a:gd name="adj" fmla="val 2286"/>
            </a:avLst>
          </a:prstGeom>
          <a:solidFill>
            <a:srgbClr val="FFF4E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广发银行智能支付手环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457200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精益需求分析定义支付场景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原型法快速验证用户需求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MoSCoW排序核心功能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3轮迭代优化体验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上市3个月激活率85%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371600"/>
            <a:ext cx="5212080" cy="3200400"/>
          </a:xfrm>
          <a:prstGeom prst="rect">
            <a:avLst>
              <a:gd name="adj" fmla="val 2286"/>
            </a:avLst>
          </a:prstGeom>
          <a:solidFill>
            <a:srgbClr val="FFF4E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汇丰银行需求全生命周期管理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457200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860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需求跟踪矩阵端到端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业务-技术双向桥接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变更影响自动分析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需求变更响应缩短50%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需求偏差率降低至5%以下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10725912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983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5394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精益需求管理+工具化跟踪+业技融合，三管齐下确保需求从提出到交付的精准落地。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模块二核心要点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客户画像四维度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基础属性/财务/行为/风险，全方位洞察客户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8408" y="201168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场景→旅程→洞察矩阵→产品规划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8408" y="297180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需求分类与启发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657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功能/非功能/约束 + 原型法/故事板/线框图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8408" y="393192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优先级与跟踪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MoSCoW/Kano/价值矩阵 + 跟踪矩阵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8408" y="4892040"/>
            <a:ext cx="18288" cy="32004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业技融合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577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业务需求与技术需求有效桥接，端到端可追溯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AI赋能：贯穿全流程的智能升级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239512" cy="2103120"/>
          </a:xfrm>
          <a:prstGeom prst="rect">
            <a:avLst>
              <a:gd name="adj" fmla="val 3478"/>
            </a:avLst>
          </a:prstGeom>
          <a:solidFill>
            <a:srgbClr val="EBF5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239512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6908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自动采集行业数据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竞争格局图谱生成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市场规模与趋势预测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239512" cy="2103120"/>
          </a:xfrm>
          <a:prstGeom prst="rect">
            <a:avLst>
              <a:gd name="adj" fmla="val 3478"/>
            </a:avLst>
          </a:prstGeom>
          <a:solidFill>
            <a:srgbClr val="EB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371600"/>
            <a:ext cx="5239512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客户画像建模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011680"/>
            <a:ext cx="46908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特征工程自动提取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客群细分智能推荐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239512" cy="2103120"/>
          </a:xfrm>
          <a:prstGeom prst="rect">
            <a:avLst>
              <a:gd name="adj" fmla="val 3478"/>
            </a:avLst>
          </a:prstGeom>
          <a:solidFill>
            <a:srgbClr val="EB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840480"/>
            <a:ext cx="5239512" cy="54864"/>
          </a:xfrm>
          <a:prstGeom prst="rect">
            <a:avLst>
              <a:gd name="adj" fmla="val 133333"/>
            </a:avLst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480560"/>
            <a:ext cx="46908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阶段自动识别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流失预警与干预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交叉销售推荐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840480"/>
            <a:ext cx="5239512" cy="2103120"/>
          </a:xfrm>
          <a:prstGeom prst="rect">
            <a:avLst>
              <a:gd name="adj" fmla="val 3478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3840480"/>
            <a:ext cx="5239512" cy="54864"/>
          </a:xfrm>
          <a:prstGeom prst="rect">
            <a:avLst>
              <a:gd name="adj" fmla="val 133333"/>
            </a:avLst>
          </a:prstGeom>
          <a:solidFill>
            <a:srgbClr val="ED7D3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营销策略自动化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4480560"/>
            <a:ext cx="46908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竞品分析自动化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策略建议生成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执行效果评估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3017520"/>
          </a:xfrm>
          <a:prstGeom prst="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383280" cy="73152"/>
          </a:xfrm>
          <a:prstGeom prst="rect">
            <a:avLst>
              <a:gd name="adj" fmla="val 100000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结构化新产品开发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从模糊前端到VOC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创意发现与筛选三步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商业论证四要素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产品质量屋方法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371600"/>
            <a:ext cx="3383280" cy="3017520"/>
          </a:xfrm>
          <a:prstGeom prst="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1371600"/>
            <a:ext cx="3383280" cy="73152"/>
          </a:xfrm>
          <a:prstGeom prst="rect">
            <a:avLst>
              <a:gd name="adj" fmla="val 100000"/>
            </a:avLst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客户画像四维度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用户角色与旅程图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71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人物画像与洞察矩阵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生命周期管理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场景分析方法论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371600"/>
            <a:ext cx="3383280" cy="3017520"/>
          </a:xfrm>
          <a:prstGeom prst="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371600"/>
            <a:ext cx="3383280" cy="73152"/>
          </a:xfrm>
          <a:prstGeom prst="rect">
            <a:avLst>
              <a:gd name="adj" fmla="val 100000"/>
            </a:avLst>
          </a:prstGeom>
          <a:solidFill>
            <a:srgbClr val="70AD4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2148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需求分类框架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需求启发技术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2971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MoSCoW/Kano优先级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383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跟踪确认机制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业技融合桥接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663440"/>
            <a:ext cx="10725912" cy="1463040"/>
          </a:xfrm>
          <a:prstGeom prst="rect">
            <a:avLst>
              <a:gd name="adj" fmla="val 5000"/>
            </a:avLst>
          </a:prstGeom>
          <a:solidFill>
            <a:srgbClr val="EBF5FB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AI赋能核心能力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5303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DeepSeek：行业数据分析 + 客户画像建模 + 生命周期管理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OpenClaw：智能体营销策略自动化生成与执行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行动建议：从学习到实践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3840480"/>
          </a:xfrm>
          <a:prstGeom prst="rect">
            <a:avLst>
              <a:gd name="adj" fmla="val 2162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383280" cy="54864"/>
          </a:xfrm>
          <a:prstGeom prst="rect">
            <a:avLst>
              <a:gd name="adj" fmla="val 133333"/>
            </a:avLst>
          </a:prstGeom>
          <a:solidFill>
            <a:srgbClr val="4472C4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164592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即时行动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梳理当前产品商业模式框架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启动客户数据采集与画像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160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引入DeepSeek辅助分析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371600"/>
            <a:ext cx="3383280" cy="3840480"/>
          </a:xfrm>
          <a:prstGeom prst="rect">
            <a:avLst>
              <a:gd name="adj" fmla="val 2162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1371600"/>
            <a:ext cx="3383280" cy="54864"/>
          </a:xfrm>
          <a:prstGeom prst="rect">
            <a:avLst>
              <a:gd name="adj" fmla="val 133333"/>
            </a:avLst>
          </a:prstGeom>
          <a:solidFill>
            <a:srgbClr val="5B9BD5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0" y="1645920"/>
            <a:ext cx="914400" cy="9144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短期计划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构建用户旅程图与洞察矩阵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建立需求分类与优先级机制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160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试点OpenClaw策略生成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371600"/>
            <a:ext cx="3383280" cy="3840480"/>
          </a:xfrm>
          <a:prstGeom prst="rect">
            <a:avLst>
              <a:gd name="adj" fmla="val 2162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371600"/>
            <a:ext cx="3383280" cy="54864"/>
          </a:xfrm>
          <a:prstGeom prst="rect">
            <a:avLst>
              <a:gd name="adj" fmla="val 133333"/>
            </a:avLst>
          </a:prstGeom>
          <a:solidFill>
            <a:srgbClr val="70AD47"/>
          </a:solidFill>
          <a:ln/>
        </p:spPr>
      </p:sp>
      <p:sp>
        <p:nvSpPr>
          <p:cNvPr id="23" name="Shape 21"/>
          <p:cNvSpPr/>
          <p:nvPr/>
        </p:nvSpPr>
        <p:spPr>
          <a:xfrm>
            <a:off x="9464040" y="1645920"/>
            <a:ext cx="914400" cy="9144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4" name="Text 22"/>
          <p:cNvSpPr/>
          <p:nvPr/>
        </p:nvSpPr>
        <p:spPr>
          <a:xfrm>
            <a:off x="94640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0392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中期建设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完善产品创新组合管理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搭建业技融合需求管理体系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160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AI工具深度融入产品全流程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8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029200" y="3383280"/>
            <a:ext cx="2130552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金融产品商业模式分析与客户洞察实战—AI赋能下的银行产品经理能力进阶</dc:title>
  <dc:subject>PptxGenJS Presentation</dc:subject>
  <dc:creator>于兆鹏</dc:creator>
  <cp:lastModifiedBy>于兆鹏</cp:lastModifiedBy>
  <cp:revision>1</cp:revision>
  <dcterms:created xsi:type="dcterms:W3CDTF">2026-06-28T12:32:44Z</dcterms:created>
  <dcterms:modified xsi:type="dcterms:W3CDTF">2026-06-28T12:32:44Z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d1e8298b-0fd9-46bd-91fe-7fff203cc34e","ReservedCode1":"4f153a61-beb6-4478-b37e-29f074f2ea7e","ContentPropagator":"001191110102MAD55U9H0F10002","PropagateID":"d1e8298b-0fd9-46bd-91fe-7fff203cc34e","ReservedCode2":"4f153a61-beb6-4478-b37e-29f074f2ea7e"}</vt:lpwstr>
  </property>
</Properties>
</file>